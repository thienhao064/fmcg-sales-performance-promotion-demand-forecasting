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microsoft.com/office/2020/02/relationships/classificationlabels" Target="docMetadata/LabelInfo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9" r:id="rId2"/>
    <p:sldId id="265" r:id="rId3"/>
    <p:sldId id="283" r:id="rId4"/>
    <p:sldId id="294" r:id="rId5"/>
    <p:sldId id="293" r:id="rId6"/>
    <p:sldId id="300" r:id="rId7"/>
    <p:sldId id="301" r:id="rId8"/>
    <p:sldId id="299" r:id="rId9"/>
    <p:sldId id="298" r:id="rId10"/>
    <p:sldId id="30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5EE02-A9E7-BF2D-CB7D-0CD0004B5A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FD4991-757E-C65F-DB59-FBDE974B48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4C34EE-ADCC-22EB-7B46-5F345326B8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8711E-9CCF-473B-84E1-09C53E0B15EC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F6CB26-70FB-DE82-8960-464DCB301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7DCCB5-7D6A-80EF-F9AB-A4D809AF6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35635-1161-49C7-83B9-4C2A02FAE4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5568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2BE0A-BCBD-8C34-9E0F-C2C5E379B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368AF8-8514-6C00-E982-CFD82701AF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21FC9C-4BD7-379A-F76E-CF72DF2E5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8711E-9CCF-473B-84E1-09C53E0B15EC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E2A598-9023-D5CA-B5B6-792029758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B274DB-4624-2819-0022-867F67B72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35635-1161-49C7-83B9-4C2A02FAE4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4934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00A3E-3CB7-99AA-0EF5-EBA71D218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4D5663-E79F-C1CC-2EAC-26E0A1F4B5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29C2DF-F33A-0F28-5E7E-84483198C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8711E-9CCF-473B-84E1-09C53E0B15EC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ED2D1B-5228-5F9E-DCEB-9B1493640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B77EE0-A207-09BE-6F72-331778168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35635-1161-49C7-83B9-4C2A02FAE4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696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0821F-EDA6-1975-26DB-03E77E2D6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62153B-A040-C926-1C17-6E001F8043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9FB240-11B9-7042-09A1-CD8ABC7F72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BA8DE1-FDAA-A718-DBD7-ADC96423C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8711E-9CCF-473B-84E1-09C53E0B15EC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6BFFA-54A5-B54C-8241-85E78E370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DA59A5-C2FD-4A5C-714D-BCD84959A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35635-1161-49C7-83B9-4C2A02FAE4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485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1F979-C972-5E82-9C46-7441FB0A31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76C4B9-ECED-D0D9-EE96-E8A0EDE85E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6E632C-8CA4-BC64-96C3-80E4F7D0B2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33F93B-65CE-0B81-CF3C-83622501A9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E36A4E-49DB-1F03-6AB5-2928AFA808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2D3615-D207-D88C-1F98-3A6541E47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8711E-9CCF-473B-84E1-09C53E0B15EC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0C5093-F0BC-5FCA-A7F5-13BC41329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15037DD-1B8B-C5DD-94C8-DA545C731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35635-1161-49C7-83B9-4C2A02FAE4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8678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27344-A47E-F435-E0F0-379EBEF71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FA938F-6494-64B5-9A0C-277F51BDE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8711E-9CCF-473B-84E1-09C53E0B15EC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81E309-E457-731D-2337-5BBBB9A65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869BFE-C20E-124D-F5BF-AC93DE7D0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35635-1161-49C7-83B9-4C2A02FAE4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2873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01D1FE-B15C-3AA4-3B02-D110CB761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8711E-9CCF-473B-84E1-09C53E0B15EC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4467B6-113C-5561-DAB5-16AEA8C4F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7EC0A0-8FCF-C85A-2C5D-803E31269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35635-1161-49C7-83B9-4C2A02FAE4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5919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19350-DD93-2931-D189-0462BC5DFD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65D7C7-B5BF-ADF1-AB0F-6174932C27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7C4DDB-61F9-F2C8-566F-38B67914EB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AAFF60-9C92-FD67-F0F5-AF147F104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8711E-9CCF-473B-84E1-09C53E0B15EC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9EE52A-88EB-79EA-E061-022BAC237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803A25-5AB8-2438-AC2E-4ECAE4835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35635-1161-49C7-83B9-4C2A02FAE4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7133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C51E3-4A76-F8AF-24DB-1B26FBD4C6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C915B6-A19E-A6A5-B00F-DC5C1F2439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8426AC-6103-8AAF-889E-A40D7E7FA6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8DD31E-BBC4-141B-8F81-7F2049F30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8711E-9CCF-473B-84E1-09C53E0B15EC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0B476C-A119-797F-9D18-49407AE0E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A08D83-C09E-75CE-F145-BCD1BAC90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35635-1161-49C7-83B9-4C2A02FAE4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6926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26B4A-749B-D9BC-3711-ED6D80E3C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B50B55-B858-4651-6A56-2FFBB4D496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AD5CAF-0D0B-A9F2-9549-256B05EBB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8711E-9CCF-473B-84E1-09C53E0B15EC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751893-46AB-70F7-7D04-4CCD9D3BB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B17597-88C9-D508-8665-39BC7C620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35635-1161-49C7-83B9-4C2A02FAE4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804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65D120-C8DF-7AAF-68C0-25C87465D5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BEA7AB-0602-3E1B-D897-FBD9E5C0E8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0DFEDD-1422-53A7-5DA1-BDA130817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8711E-9CCF-473B-84E1-09C53E0B15EC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EEF3BE-58A6-D195-A8B3-C02AF7733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A8E759-B281-6C8D-2408-E95A5D9AF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35635-1161-49C7-83B9-4C2A02FAE4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0651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6A8EBC-4DE6-970E-F82B-2FB0BA98D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6684BE-364A-4C2E-9C3A-333AD7378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DD2838-AB7B-C384-57C8-56BF37C906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08711E-9CCF-473B-84E1-09C53E0B15EC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842061-67D6-CF33-5EA1-291D00D383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9354BB-6CA3-F6AE-C135-62B442351E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A35635-1161-49C7-83B9-4C2A02FAE45C}" type="slidenum">
              <a:rPr lang="en-US" smtClean="0"/>
              <a:t>‹#›</a:t>
            </a:fld>
            <a:endParaRPr lang="en-US"/>
          </a:p>
        </p:txBody>
      </p:sp>
      <p:grpSp>
        <p:nvGrpSpPr>
          <p:cNvPr id="90" name="Brand Decor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1" name="Accent Bar"/>
            <p:cNvSpPr/>
            <p:nvPr/>
          </p:nvSpPr>
          <p:spPr>
            <a:xfrm>
              <a:off x="0" y="0"/>
              <a:ext cx="152400" cy="6858000"/>
            </a:xfrm>
            <a:prstGeom prst="rect">
              <a:avLst/>
            </a:prstGeom>
            <a:solidFill>
              <a:srgbClr val="0E7C7B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" name="Accent Square"/>
            <p:cNvSpPr/>
            <p:nvPr/>
          </p:nvSpPr>
          <p:spPr>
            <a:xfrm>
              <a:off x="0" y="5715000"/>
              <a:ext cx="152400" cy="600000"/>
            </a:xfrm>
            <a:prstGeom prst="rect">
              <a:avLst/>
            </a:prstGeom>
            <a:solidFill>
              <a:srgbClr val="E8833A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63485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12313A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263B4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13DC5-0683-286B-191E-6A0A170DC0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9200" y="1905000"/>
            <a:ext cx="9753600" cy="2159000"/>
          </a:xfrm>
        </p:spPr>
        <p:txBody>
          <a:bodyPr/>
          <a:lstStyle/>
          <a:p>
            <a:pPr algn="ctr">
              <a:buNone/>
            </a:pPr>
            <a:r>
              <a:rPr lang="en-US" sz="4000" b="1" spc="40" dirty="0">
                <a:solidFill>
                  <a:srgbClr val="12313A"/>
                </a:solidFill>
                <a:latin typeface="+mn-lt"/>
              </a:rPr>
              <a:t>FMCG Sales Performance, Promotion &amp; Demand Forecasting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92A5FC-DBDE-446C-E38E-587365FD96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43200" y="4521200"/>
            <a:ext cx="6705600" cy="913150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en-US" sz="2000" b="1" spc="300" dirty="0">
                <a:solidFill>
                  <a:srgbClr val="0E7C7B"/>
                </a:solidFill>
              </a:rPr>
              <a:t>DATA ANALYST PORTFOLIO PROJECT</a:t>
            </a:r>
          </a:p>
          <a:p>
            <a:pPr algn="ctr">
              <a:buNone/>
            </a:pPr>
            <a:r>
              <a:rPr lang="en-US" sz="2000" b="1" spc="300" dirty="0">
                <a:solidFill>
                  <a:srgbClr val="0E7C7B"/>
                </a:solidFill>
              </a:rPr>
              <a:t>Nguyễn Thiên Hào</a:t>
            </a:r>
          </a:p>
        </p:txBody>
      </p:sp>
      <p:sp>
        <p:nvSpPr>
          <p:cNvPr id="50" name="Accent Rule"/>
          <p:cNvSpPr/>
          <p:nvPr/>
        </p:nvSpPr>
        <p:spPr>
          <a:xfrm>
            <a:off x="5334000" y="4216400"/>
            <a:ext cx="1524000" cy="63500"/>
          </a:xfrm>
          <a:prstGeom prst="rect">
            <a:avLst/>
          </a:prstGeom>
          <a:solidFill>
            <a:srgbClr val="E883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701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FFDF5-C493-4E70-0159-E8CFB50EE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31800"/>
            <a:ext cx="10515600" cy="584200"/>
          </a:xfrm>
        </p:spPr>
        <p:txBody>
          <a:bodyPr/>
          <a:lstStyle/>
          <a:p>
            <a:pPr algn="l">
              <a:buNone/>
            </a:pPr>
            <a:r>
              <a:rPr lang="en-US" sz="3400" b="1" dirty="0">
                <a:solidFill>
                  <a:srgbClr val="12313A"/>
                </a:solidFill>
              </a:rPr>
              <a:t>Business Problem</a:t>
            </a:r>
          </a:p>
        </p:txBody>
      </p:sp>
      <p:sp>
        <p:nvSpPr>
          <p:cNvPr id="101" name="Intro"/>
          <p:cNvSpPr/>
          <p:nvPr/>
        </p:nvSpPr>
        <p:spPr>
          <a:xfrm>
            <a:off x="838200" y="1117600"/>
            <a:ext cx="105156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600" dirty="0">
                <a:solidFill>
                  <a:srgbClr val="3A4E56"/>
                </a:solidFill>
              </a:rPr>
              <a:t>A demand-planning and commercial analytics team at an FMCG company needs to answer four questions:</a:t>
            </a:r>
          </a:p>
        </p:txBody>
      </p:sp>
      <p:sp>
        <p:nvSpPr>
          <p:cNvPr id="102" name="Card 1"/>
          <p:cNvSpPr/>
          <p:nvPr/>
        </p:nvSpPr>
        <p:spPr>
          <a:xfrm>
            <a:off x="838200" y="1854200"/>
            <a:ext cx="5080000" cy="2133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5E4"/>
            </a:solidFill>
          </a:ln>
        </p:spPr>
        <p:txBody>
          <a:bodyPr anchor="t"/>
          <a:lstStyle/>
          <a:p>
            <a:endParaRPr lang="en-US"/>
          </a:p>
        </p:txBody>
      </p:sp>
      <p:sp>
        <p:nvSpPr>
          <p:cNvPr id="103" name="Card Bar 1"/>
          <p:cNvSpPr/>
          <p:nvPr/>
        </p:nvSpPr>
        <p:spPr>
          <a:xfrm>
            <a:off x="838200" y="2057400"/>
            <a:ext cx="63500" cy="172720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4" name="Card Head 1"/>
          <p:cNvSpPr/>
          <p:nvPr/>
        </p:nvSpPr>
        <p:spPr>
          <a:xfrm>
            <a:off x="1879600" y="2159000"/>
            <a:ext cx="37338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2200" b="1" dirty="0">
                <a:solidFill>
                  <a:srgbClr val="0E7C7B"/>
                </a:solidFill>
              </a:rPr>
              <a:t>Performance</a:t>
            </a:r>
          </a:p>
        </p:txBody>
      </p:sp>
      <p:sp>
        <p:nvSpPr>
          <p:cNvPr id="105" name="Card Body 1"/>
          <p:cNvSpPr/>
          <p:nvPr/>
        </p:nvSpPr>
        <p:spPr>
          <a:xfrm>
            <a:off x="1168400" y="2717800"/>
            <a:ext cx="441960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buNone/>
            </a:pPr>
            <a:r>
              <a:rPr lang="en-US" sz="1500" dirty="0">
                <a:solidFill>
                  <a:srgbClr val="3A4E56"/>
                </a:solidFill>
              </a:rPr>
              <a:t>Which categories, brands, channels and regions drive sales, and how is the trend developing year over year?</a:t>
            </a:r>
          </a:p>
        </p:txBody>
      </p:sp>
      <p:sp>
        <p:nvSpPr>
          <p:cNvPr id="106" name="Card 2"/>
          <p:cNvSpPr/>
          <p:nvPr/>
        </p:nvSpPr>
        <p:spPr>
          <a:xfrm>
            <a:off x="6273800" y="1854200"/>
            <a:ext cx="5080000" cy="2133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5E4"/>
            </a:solidFill>
          </a:ln>
        </p:spPr>
        <p:txBody>
          <a:bodyPr anchor="t"/>
          <a:lstStyle/>
          <a:p>
            <a:endParaRPr lang="en-US"/>
          </a:p>
        </p:txBody>
      </p:sp>
      <p:sp>
        <p:nvSpPr>
          <p:cNvPr id="107" name="Card Bar 2"/>
          <p:cNvSpPr/>
          <p:nvPr/>
        </p:nvSpPr>
        <p:spPr>
          <a:xfrm>
            <a:off x="6273800" y="2057400"/>
            <a:ext cx="63500" cy="1727200"/>
          </a:xfrm>
          <a:prstGeom prst="rect">
            <a:avLst/>
          </a:prstGeom>
          <a:solidFill>
            <a:srgbClr val="E883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8" name="Card Head 2"/>
          <p:cNvSpPr/>
          <p:nvPr/>
        </p:nvSpPr>
        <p:spPr>
          <a:xfrm>
            <a:off x="7315200" y="2159000"/>
            <a:ext cx="37338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2200" b="1" dirty="0">
                <a:solidFill>
                  <a:srgbClr val="E8833A"/>
                </a:solidFill>
              </a:rPr>
              <a:t>Promotion</a:t>
            </a:r>
          </a:p>
        </p:txBody>
      </p:sp>
      <p:sp>
        <p:nvSpPr>
          <p:cNvPr id="109" name="Card Body 2"/>
          <p:cNvSpPr/>
          <p:nvPr/>
        </p:nvSpPr>
        <p:spPr>
          <a:xfrm>
            <a:off x="6604000" y="2717800"/>
            <a:ext cx="441960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buNone/>
            </a:pPr>
            <a:r>
              <a:rPr lang="en-US" sz="1500" dirty="0">
                <a:solidFill>
                  <a:srgbClr val="3A4E56"/>
                </a:solidFill>
              </a:rPr>
              <a:t>Do promotions generate incremental volume, or do they mostly discount sales that would have happened anyway?</a:t>
            </a:r>
          </a:p>
        </p:txBody>
      </p:sp>
      <p:sp>
        <p:nvSpPr>
          <p:cNvPr id="110" name="Card 3"/>
          <p:cNvSpPr/>
          <p:nvPr/>
        </p:nvSpPr>
        <p:spPr>
          <a:xfrm>
            <a:off x="838200" y="4267200"/>
            <a:ext cx="5080000" cy="2133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5E4"/>
            </a:solidFill>
          </a:ln>
        </p:spPr>
        <p:txBody>
          <a:bodyPr anchor="t"/>
          <a:lstStyle/>
          <a:p>
            <a:endParaRPr lang="en-US"/>
          </a:p>
        </p:txBody>
      </p:sp>
      <p:sp>
        <p:nvSpPr>
          <p:cNvPr id="111" name="Card Bar 3"/>
          <p:cNvSpPr/>
          <p:nvPr/>
        </p:nvSpPr>
        <p:spPr>
          <a:xfrm>
            <a:off x="838200" y="4470400"/>
            <a:ext cx="63500" cy="1727200"/>
          </a:xfrm>
          <a:prstGeom prst="rect">
            <a:avLst/>
          </a:prstGeom>
          <a:solidFill>
            <a:srgbClr val="2C6E9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Card Head 3"/>
          <p:cNvSpPr/>
          <p:nvPr/>
        </p:nvSpPr>
        <p:spPr>
          <a:xfrm>
            <a:off x="1879600" y="4572000"/>
            <a:ext cx="37338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2200" b="1" dirty="0">
                <a:solidFill>
                  <a:srgbClr val="2C6E9B"/>
                </a:solidFill>
              </a:rPr>
              <a:t>Availability</a:t>
            </a:r>
          </a:p>
        </p:txBody>
      </p:sp>
      <p:sp>
        <p:nvSpPr>
          <p:cNvPr id="113" name="Card Body 3"/>
          <p:cNvSpPr/>
          <p:nvPr/>
        </p:nvSpPr>
        <p:spPr>
          <a:xfrm>
            <a:off x="1168400" y="5130800"/>
            <a:ext cx="441960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buNone/>
            </a:pPr>
            <a:r>
              <a:rPr lang="en-US" sz="1500" dirty="0">
                <a:solidFill>
                  <a:srgbClr val="3A4E56"/>
                </a:solidFill>
              </a:rPr>
              <a:t>Where are we losing sales to stock-outs, and how does delivery lead time relate to this?</a:t>
            </a:r>
          </a:p>
        </p:txBody>
      </p:sp>
      <p:sp>
        <p:nvSpPr>
          <p:cNvPr id="114" name="Card 4"/>
          <p:cNvSpPr/>
          <p:nvPr/>
        </p:nvSpPr>
        <p:spPr>
          <a:xfrm>
            <a:off x="6273800" y="4267200"/>
            <a:ext cx="5080000" cy="2133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5E4"/>
            </a:solidFill>
          </a:ln>
        </p:spPr>
        <p:txBody>
          <a:bodyPr anchor="t"/>
          <a:lstStyle/>
          <a:p>
            <a:endParaRPr lang="en-US"/>
          </a:p>
        </p:txBody>
      </p:sp>
      <p:sp>
        <p:nvSpPr>
          <p:cNvPr id="115" name="Card Bar 4"/>
          <p:cNvSpPr/>
          <p:nvPr/>
        </p:nvSpPr>
        <p:spPr>
          <a:xfrm>
            <a:off x="6273800" y="4470400"/>
            <a:ext cx="63500" cy="1727200"/>
          </a:xfrm>
          <a:prstGeom prst="rect">
            <a:avLst/>
          </a:prstGeom>
          <a:solidFill>
            <a:srgbClr val="C0492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6" name="Card Head 4"/>
          <p:cNvSpPr/>
          <p:nvPr/>
        </p:nvSpPr>
        <p:spPr>
          <a:xfrm>
            <a:off x="7315200" y="4572000"/>
            <a:ext cx="37338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2200" b="1" dirty="0">
                <a:solidFill>
                  <a:srgbClr val="C0492F"/>
                </a:solidFill>
              </a:rPr>
              <a:t>Planning</a:t>
            </a:r>
          </a:p>
        </p:txBody>
      </p:sp>
      <p:sp>
        <p:nvSpPr>
          <p:cNvPr id="117" name="Card Body 4"/>
          <p:cNvSpPr/>
          <p:nvPr/>
        </p:nvSpPr>
        <p:spPr>
          <a:xfrm>
            <a:off x="6604000" y="5130800"/>
            <a:ext cx="441960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12000"/>
              </a:lnSpc>
              <a:buNone/>
            </a:pPr>
            <a:r>
              <a:rPr lang="en-US" sz="1500" dirty="0">
                <a:solidFill>
                  <a:srgbClr val="3A4E56"/>
                </a:solidFill>
              </a:rPr>
              <a:t>Can we forecast weekly demand accurately enough to reduce both stock-outs and overstock?</a:t>
            </a:r>
          </a:p>
        </p:txBody>
      </p:sp>
      <p:pic>
        <p:nvPicPr>
          <p:cNvPr id="118" name="Graphic 118" descr="Bar chart icon for Performanc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68400" y="2159000"/>
            <a:ext cx="508000" cy="508000"/>
          </a:xfrm>
          <a:prstGeom prst="rect">
            <a:avLst/>
          </a:prstGeom>
        </p:spPr>
      </p:pic>
      <p:pic>
        <p:nvPicPr>
          <p:cNvPr id="119" name="Graphic 119" descr="Megaphone icon for Promoti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04000" y="2159000"/>
            <a:ext cx="508000" cy="508000"/>
          </a:xfrm>
          <a:prstGeom prst="rect">
            <a:avLst/>
          </a:prstGeom>
        </p:spPr>
      </p:pic>
      <p:pic>
        <p:nvPicPr>
          <p:cNvPr id="120" name="Graphic 120" descr="Warehouse icon for Availability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8400" y="4572000"/>
            <a:ext cx="508000" cy="508000"/>
          </a:xfrm>
          <a:prstGeom prst="rect">
            <a:avLst/>
          </a:prstGeom>
        </p:spPr>
      </p:pic>
      <p:pic>
        <p:nvPicPr>
          <p:cNvPr id="121" name="Graphic 121" descr="Calendar icon for Planni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04000" y="4572000"/>
            <a:ext cx="5080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4902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BCD9F-3090-B51F-D1D4-A80D4A7F4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000"/>
            <a:ext cx="6350000" cy="558800"/>
          </a:xfrm>
        </p:spPr>
        <p:txBody>
          <a:bodyPr/>
          <a:lstStyle/>
          <a:p>
            <a:pPr algn="l">
              <a:buNone/>
            </a:pPr>
            <a:r>
              <a:rPr lang="en-US" sz="3400" b="1" dirty="0">
                <a:solidFill>
                  <a:srgbClr val="12313A"/>
                </a:solidFill>
              </a:rPr>
              <a:t>Analysis</a:t>
            </a:r>
          </a:p>
        </p:txBody>
      </p:sp>
      <p:sp>
        <p:nvSpPr>
          <p:cNvPr id="202" name="Card 01"/>
          <p:cNvSpPr/>
          <p:nvPr/>
        </p:nvSpPr>
        <p:spPr>
          <a:xfrm>
            <a:off x="838200" y="1117600"/>
            <a:ext cx="3403600" cy="254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5E4"/>
            </a:solidFill>
          </a:ln>
        </p:spPr>
        <p:txBody>
          <a:bodyPr anchor="t"/>
          <a:lstStyle/>
          <a:p>
            <a:endParaRPr lang="en-US"/>
          </a:p>
        </p:txBody>
      </p:sp>
      <p:sp>
        <p:nvSpPr>
          <p:cNvPr id="203" name="Figure Slot 01"/>
          <p:cNvSpPr/>
          <p:nvPr/>
        </p:nvSpPr>
        <p:spPr>
          <a:xfrm>
            <a:off x="990600" y="1270000"/>
            <a:ext cx="3098800" cy="1371600"/>
          </a:xfrm>
          <a:prstGeom prst="rect">
            <a:avLst/>
          </a:prstGeom>
          <a:solidFill>
            <a:srgbClr val="FFFFFF"/>
          </a:solidFill>
          <a:ln w="9525">
            <a:noFill/>
            <a:prstDash val="dash"/>
          </a:ln>
        </p:spPr>
        <p:txBody>
          <a:bodyPr wrap="square" lIns="60000" tIns="45000" rIns="60000" bIns="45000" anchor="ctr"/>
          <a:lstStyle/>
          <a:p>
            <a:pPr algn="ctr">
              <a:buNone/>
            </a:pPr>
            <a:r>
              <a:rPr lang="en-US" sz="1400">
                <a:solidFill>
                  <a:srgbClr val="63757B"/>
                </a:solidFill>
              </a:rPr>
              <a:t> </a:t>
            </a:r>
            <a:endParaRPr lang="en-US" sz="1400" dirty="0">
              <a:solidFill>
                <a:srgbClr val="63757B"/>
              </a:solidFill>
            </a:endParaRPr>
          </a:p>
        </p:txBody>
      </p:sp>
      <p:sp>
        <p:nvSpPr>
          <p:cNvPr id="204" name="Num 01"/>
          <p:cNvSpPr/>
          <p:nvPr/>
        </p:nvSpPr>
        <p:spPr>
          <a:xfrm>
            <a:off x="990600" y="2768600"/>
            <a:ext cx="431800" cy="279400"/>
          </a:xfrm>
          <a:prstGeom prst="roundRect">
            <a:avLst/>
          </a:prstGeom>
          <a:solidFill>
            <a:srgbClr val="0E7C7B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205" name="Head 01"/>
          <p:cNvSpPr/>
          <p:nvPr/>
        </p:nvSpPr>
        <p:spPr>
          <a:xfrm>
            <a:off x="1524000" y="2743200"/>
            <a:ext cx="25654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1800" b="1" dirty="0">
                <a:solidFill>
                  <a:srgbClr val="12313A"/>
                </a:solidFill>
              </a:rPr>
              <a:t>Trend</a:t>
            </a:r>
          </a:p>
        </p:txBody>
      </p:sp>
      <p:sp>
        <p:nvSpPr>
          <p:cNvPr id="206" name="Focus 01"/>
          <p:cNvSpPr/>
          <p:nvPr/>
        </p:nvSpPr>
        <p:spPr>
          <a:xfrm>
            <a:off x="990600" y="3124200"/>
            <a:ext cx="3098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10000"/>
              </a:lnSpc>
              <a:buNone/>
            </a:pPr>
            <a:r>
              <a:rPr lang="en-US" sz="1400" dirty="0">
                <a:solidFill>
                  <a:srgbClr val="3A4E56"/>
                </a:solidFill>
              </a:rPr>
              <a:t>Weekly &amp; YoY volume</a:t>
            </a:r>
          </a:p>
        </p:txBody>
      </p:sp>
      <p:sp>
        <p:nvSpPr>
          <p:cNvPr id="207" name="Card 02"/>
          <p:cNvSpPr/>
          <p:nvPr/>
        </p:nvSpPr>
        <p:spPr>
          <a:xfrm>
            <a:off x="4394200" y="1117600"/>
            <a:ext cx="3403600" cy="254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5E4"/>
            </a:solidFill>
          </a:ln>
        </p:spPr>
        <p:txBody>
          <a:bodyPr anchor="t"/>
          <a:lstStyle/>
          <a:p>
            <a:endParaRPr lang="en-US"/>
          </a:p>
        </p:txBody>
      </p:sp>
      <p:sp>
        <p:nvSpPr>
          <p:cNvPr id="208" name="Figure Slot 02"/>
          <p:cNvSpPr/>
          <p:nvPr/>
        </p:nvSpPr>
        <p:spPr>
          <a:xfrm>
            <a:off x="4546600" y="1270000"/>
            <a:ext cx="3098800" cy="1371600"/>
          </a:xfrm>
          <a:prstGeom prst="rect">
            <a:avLst/>
          </a:prstGeom>
          <a:solidFill>
            <a:srgbClr val="FFFFFF"/>
          </a:solidFill>
          <a:ln w="9525">
            <a:noFill/>
            <a:prstDash val="dash"/>
          </a:ln>
        </p:spPr>
        <p:txBody>
          <a:bodyPr wrap="square" lIns="60000" tIns="45000" rIns="60000" bIns="45000" anchor="ctr"/>
          <a:lstStyle/>
          <a:p>
            <a:pPr algn="ctr">
              <a:buNone/>
            </a:pPr>
            <a:r>
              <a:rPr lang="en-US" sz="1400">
                <a:solidFill>
                  <a:srgbClr val="63757B"/>
                </a:solidFill>
              </a:rPr>
              <a:t> </a:t>
            </a:r>
            <a:endParaRPr lang="en-US" sz="1400" dirty="0">
              <a:solidFill>
                <a:srgbClr val="63757B"/>
              </a:solidFill>
            </a:endParaRPr>
          </a:p>
        </p:txBody>
      </p:sp>
      <p:sp>
        <p:nvSpPr>
          <p:cNvPr id="209" name="Num 02"/>
          <p:cNvSpPr/>
          <p:nvPr/>
        </p:nvSpPr>
        <p:spPr>
          <a:xfrm>
            <a:off x="4546600" y="2768600"/>
            <a:ext cx="431800" cy="279400"/>
          </a:xfrm>
          <a:prstGeom prst="roundRect">
            <a:avLst/>
          </a:prstGeom>
          <a:solidFill>
            <a:srgbClr val="E8833A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210" name="Head 02"/>
          <p:cNvSpPr/>
          <p:nvPr/>
        </p:nvSpPr>
        <p:spPr>
          <a:xfrm>
            <a:off x="5080000" y="2743200"/>
            <a:ext cx="25654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1800" b="1" dirty="0">
                <a:solidFill>
                  <a:srgbClr val="12313A"/>
                </a:solidFill>
              </a:rPr>
              <a:t>Seasonality</a:t>
            </a:r>
          </a:p>
        </p:txBody>
      </p:sp>
      <p:sp>
        <p:nvSpPr>
          <p:cNvPr id="211" name="Focus 02"/>
          <p:cNvSpPr/>
          <p:nvPr/>
        </p:nvSpPr>
        <p:spPr>
          <a:xfrm>
            <a:off x="4546600" y="3124200"/>
            <a:ext cx="3098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10000"/>
              </a:lnSpc>
              <a:buNone/>
            </a:pPr>
            <a:r>
              <a:rPr lang="en-US" sz="1400" dirty="0">
                <a:solidFill>
                  <a:srgbClr val="3A4E56"/>
                </a:solidFill>
              </a:rPr>
              <a:t>YoY &amp; Day of week</a:t>
            </a:r>
          </a:p>
        </p:txBody>
      </p:sp>
      <p:sp>
        <p:nvSpPr>
          <p:cNvPr id="212" name="Card 03"/>
          <p:cNvSpPr/>
          <p:nvPr/>
        </p:nvSpPr>
        <p:spPr>
          <a:xfrm>
            <a:off x="7950200" y="1117600"/>
            <a:ext cx="3403600" cy="254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5E4"/>
            </a:solidFill>
          </a:ln>
        </p:spPr>
        <p:txBody>
          <a:bodyPr anchor="t"/>
          <a:lstStyle/>
          <a:p>
            <a:endParaRPr lang="en-US"/>
          </a:p>
        </p:txBody>
      </p:sp>
      <p:sp>
        <p:nvSpPr>
          <p:cNvPr id="213" name="Figure Slot 03"/>
          <p:cNvSpPr/>
          <p:nvPr/>
        </p:nvSpPr>
        <p:spPr>
          <a:xfrm>
            <a:off x="8102600" y="1270000"/>
            <a:ext cx="3098800" cy="1371600"/>
          </a:xfrm>
          <a:prstGeom prst="rect">
            <a:avLst/>
          </a:prstGeom>
          <a:solidFill>
            <a:srgbClr val="FFFFFF"/>
          </a:solidFill>
          <a:ln w="9525">
            <a:noFill/>
            <a:prstDash val="dash"/>
          </a:ln>
        </p:spPr>
        <p:txBody>
          <a:bodyPr wrap="square" lIns="60000" tIns="45000" rIns="60000" bIns="45000" anchor="ctr"/>
          <a:lstStyle/>
          <a:p>
            <a:pPr algn="ctr">
              <a:buNone/>
            </a:pPr>
            <a:r>
              <a:rPr lang="en-US" sz="1400">
                <a:solidFill>
                  <a:srgbClr val="63757B"/>
                </a:solidFill>
              </a:rPr>
              <a:t> </a:t>
            </a:r>
            <a:endParaRPr lang="en-US" sz="1400" dirty="0">
              <a:solidFill>
                <a:srgbClr val="63757B"/>
              </a:solidFill>
            </a:endParaRPr>
          </a:p>
        </p:txBody>
      </p:sp>
      <p:sp>
        <p:nvSpPr>
          <p:cNvPr id="214" name="Num 03"/>
          <p:cNvSpPr/>
          <p:nvPr/>
        </p:nvSpPr>
        <p:spPr>
          <a:xfrm>
            <a:off x="8102600" y="2768600"/>
            <a:ext cx="431800" cy="279400"/>
          </a:xfrm>
          <a:prstGeom prst="roundRect">
            <a:avLst/>
          </a:prstGeom>
          <a:solidFill>
            <a:srgbClr val="2C6E9B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15" name="Head 03"/>
          <p:cNvSpPr/>
          <p:nvPr/>
        </p:nvSpPr>
        <p:spPr>
          <a:xfrm>
            <a:off x="8636000" y="2743200"/>
            <a:ext cx="25654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1800" b="1" dirty="0">
                <a:solidFill>
                  <a:srgbClr val="12313A"/>
                </a:solidFill>
              </a:rPr>
              <a:t>Product Hierarchy</a:t>
            </a:r>
          </a:p>
        </p:txBody>
      </p:sp>
      <p:sp>
        <p:nvSpPr>
          <p:cNvPr id="216" name="Focus 03"/>
          <p:cNvSpPr/>
          <p:nvPr/>
        </p:nvSpPr>
        <p:spPr>
          <a:xfrm>
            <a:off x="8102600" y="3124200"/>
            <a:ext cx="3098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10000"/>
              </a:lnSpc>
              <a:buNone/>
            </a:pPr>
            <a:r>
              <a:rPr lang="en-US" sz="1400" dirty="0">
                <a:solidFill>
                  <a:srgbClr val="3A4E56"/>
                </a:solidFill>
              </a:rPr>
              <a:t>Category share, top brands, SKU</a:t>
            </a:r>
          </a:p>
        </p:txBody>
      </p:sp>
      <p:sp>
        <p:nvSpPr>
          <p:cNvPr id="217" name="Card 04"/>
          <p:cNvSpPr/>
          <p:nvPr/>
        </p:nvSpPr>
        <p:spPr>
          <a:xfrm>
            <a:off x="838200" y="3860800"/>
            <a:ext cx="3403600" cy="254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5E4"/>
            </a:solidFill>
          </a:ln>
        </p:spPr>
        <p:txBody>
          <a:bodyPr anchor="t"/>
          <a:lstStyle/>
          <a:p>
            <a:endParaRPr lang="en-US"/>
          </a:p>
        </p:txBody>
      </p:sp>
      <p:sp>
        <p:nvSpPr>
          <p:cNvPr id="218" name="Figure Slot 04"/>
          <p:cNvSpPr/>
          <p:nvPr/>
        </p:nvSpPr>
        <p:spPr>
          <a:xfrm>
            <a:off x="990600" y="4013200"/>
            <a:ext cx="3098800" cy="1371600"/>
          </a:xfrm>
          <a:prstGeom prst="rect">
            <a:avLst/>
          </a:prstGeom>
          <a:solidFill>
            <a:srgbClr val="FFFFFF"/>
          </a:solidFill>
          <a:ln w="9525">
            <a:noFill/>
            <a:prstDash val="dash"/>
          </a:ln>
        </p:spPr>
        <p:txBody>
          <a:bodyPr wrap="square" lIns="60000" tIns="45000" rIns="60000" bIns="45000" anchor="ctr"/>
          <a:lstStyle/>
          <a:p>
            <a:pPr algn="ctr">
              <a:buNone/>
            </a:pPr>
            <a:r>
              <a:rPr lang="en-US" sz="1400">
                <a:solidFill>
                  <a:srgbClr val="63757B"/>
                </a:solidFill>
              </a:rPr>
              <a:t> </a:t>
            </a:r>
            <a:endParaRPr lang="en-US" sz="1400" dirty="0">
              <a:solidFill>
                <a:srgbClr val="63757B"/>
              </a:solidFill>
            </a:endParaRPr>
          </a:p>
        </p:txBody>
      </p:sp>
      <p:sp>
        <p:nvSpPr>
          <p:cNvPr id="219" name="Num 04"/>
          <p:cNvSpPr/>
          <p:nvPr/>
        </p:nvSpPr>
        <p:spPr>
          <a:xfrm>
            <a:off x="990600" y="5511800"/>
            <a:ext cx="431800" cy="279400"/>
          </a:xfrm>
          <a:prstGeom prst="roundRect">
            <a:avLst/>
          </a:prstGeom>
          <a:solidFill>
            <a:srgbClr val="1F7A5A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20" name="Head 04"/>
          <p:cNvSpPr/>
          <p:nvPr/>
        </p:nvSpPr>
        <p:spPr>
          <a:xfrm>
            <a:off x="1524000" y="5486400"/>
            <a:ext cx="25654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1800" b="1" dirty="0">
                <a:solidFill>
                  <a:srgbClr val="12313A"/>
                </a:solidFill>
              </a:rPr>
              <a:t>Channel &amp; Region</a:t>
            </a:r>
          </a:p>
        </p:txBody>
      </p:sp>
      <p:sp>
        <p:nvSpPr>
          <p:cNvPr id="221" name="Focus 04"/>
          <p:cNvSpPr/>
          <p:nvPr/>
        </p:nvSpPr>
        <p:spPr>
          <a:xfrm>
            <a:off x="990600" y="5867400"/>
            <a:ext cx="3098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10000"/>
              </a:lnSpc>
              <a:buNone/>
            </a:pPr>
            <a:r>
              <a:rPr lang="en-US" sz="1400" dirty="0">
                <a:solidFill>
                  <a:srgbClr val="3A4E56"/>
                </a:solidFill>
              </a:rPr>
              <a:t>Volume mix</a:t>
            </a:r>
          </a:p>
        </p:txBody>
      </p:sp>
      <p:sp>
        <p:nvSpPr>
          <p:cNvPr id="222" name="Card 05"/>
          <p:cNvSpPr/>
          <p:nvPr/>
        </p:nvSpPr>
        <p:spPr>
          <a:xfrm>
            <a:off x="4394200" y="3860800"/>
            <a:ext cx="3403600" cy="254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5E4"/>
            </a:solidFill>
          </a:ln>
        </p:spPr>
        <p:txBody>
          <a:bodyPr anchor="t"/>
          <a:lstStyle/>
          <a:p>
            <a:endParaRPr lang="en-US"/>
          </a:p>
        </p:txBody>
      </p:sp>
      <p:sp>
        <p:nvSpPr>
          <p:cNvPr id="223" name="Figure Slot 05"/>
          <p:cNvSpPr/>
          <p:nvPr/>
        </p:nvSpPr>
        <p:spPr>
          <a:xfrm>
            <a:off x="4546600" y="4013200"/>
            <a:ext cx="3098800" cy="1371600"/>
          </a:xfrm>
          <a:prstGeom prst="rect">
            <a:avLst/>
          </a:prstGeom>
          <a:solidFill>
            <a:srgbClr val="FFFFFF"/>
          </a:solidFill>
          <a:ln w="9525">
            <a:noFill/>
            <a:prstDash val="dash"/>
          </a:ln>
        </p:spPr>
        <p:txBody>
          <a:bodyPr wrap="square" lIns="60000" tIns="45000" rIns="60000" bIns="45000" anchor="ctr"/>
          <a:lstStyle/>
          <a:p>
            <a:pPr algn="ctr">
              <a:buNone/>
            </a:pPr>
            <a:r>
              <a:rPr lang="en-US" sz="1400">
                <a:solidFill>
                  <a:srgbClr val="63757B"/>
                </a:solidFill>
              </a:rPr>
              <a:t> </a:t>
            </a:r>
            <a:endParaRPr lang="en-US" sz="1400" dirty="0">
              <a:solidFill>
                <a:srgbClr val="63757B"/>
              </a:solidFill>
            </a:endParaRPr>
          </a:p>
        </p:txBody>
      </p:sp>
      <p:sp>
        <p:nvSpPr>
          <p:cNvPr id="224" name="Num 05"/>
          <p:cNvSpPr/>
          <p:nvPr/>
        </p:nvSpPr>
        <p:spPr>
          <a:xfrm>
            <a:off x="4546600" y="5511800"/>
            <a:ext cx="431800" cy="279400"/>
          </a:xfrm>
          <a:prstGeom prst="roundRect">
            <a:avLst/>
          </a:prstGeom>
          <a:solidFill>
            <a:srgbClr val="C0492F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25" name="Head 05"/>
          <p:cNvSpPr/>
          <p:nvPr/>
        </p:nvSpPr>
        <p:spPr>
          <a:xfrm>
            <a:off x="5080000" y="5486400"/>
            <a:ext cx="25654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1800" b="1" dirty="0">
                <a:solidFill>
                  <a:srgbClr val="12313A"/>
                </a:solidFill>
              </a:rPr>
              <a:t>Promotion</a:t>
            </a:r>
          </a:p>
        </p:txBody>
      </p:sp>
      <p:sp>
        <p:nvSpPr>
          <p:cNvPr id="226" name="Focus 05"/>
          <p:cNvSpPr/>
          <p:nvPr/>
        </p:nvSpPr>
        <p:spPr>
          <a:xfrm>
            <a:off x="4546600" y="5867400"/>
            <a:ext cx="3098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10000"/>
              </a:lnSpc>
              <a:buNone/>
            </a:pPr>
            <a:r>
              <a:rPr lang="en-US" sz="1400" dirty="0">
                <a:solidFill>
                  <a:srgbClr val="3A4E56"/>
                </a:solidFill>
              </a:rPr>
              <a:t>Uplift on volume, by category</a:t>
            </a:r>
          </a:p>
        </p:txBody>
      </p:sp>
      <p:sp>
        <p:nvSpPr>
          <p:cNvPr id="227" name="Card 06"/>
          <p:cNvSpPr/>
          <p:nvPr/>
        </p:nvSpPr>
        <p:spPr>
          <a:xfrm>
            <a:off x="7950200" y="3860800"/>
            <a:ext cx="3403600" cy="254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5E4"/>
            </a:solidFill>
          </a:ln>
        </p:spPr>
        <p:txBody>
          <a:bodyPr anchor="t"/>
          <a:lstStyle/>
          <a:p>
            <a:endParaRPr lang="en-US"/>
          </a:p>
        </p:txBody>
      </p:sp>
      <p:sp>
        <p:nvSpPr>
          <p:cNvPr id="228" name="Figure Slot 06"/>
          <p:cNvSpPr/>
          <p:nvPr/>
        </p:nvSpPr>
        <p:spPr>
          <a:xfrm>
            <a:off x="8102600" y="4013200"/>
            <a:ext cx="3098800" cy="1371600"/>
          </a:xfrm>
          <a:prstGeom prst="rect">
            <a:avLst/>
          </a:prstGeom>
          <a:solidFill>
            <a:srgbClr val="FFFFFF"/>
          </a:solidFill>
          <a:ln w="9525">
            <a:noFill/>
            <a:prstDash val="dash"/>
          </a:ln>
        </p:spPr>
        <p:txBody>
          <a:bodyPr wrap="square" lIns="60000" tIns="45000" rIns="60000" bIns="45000" anchor="ctr"/>
          <a:lstStyle/>
          <a:p>
            <a:pPr algn="ctr">
              <a:buNone/>
            </a:pPr>
            <a:r>
              <a:rPr lang="en-US" sz="1400">
                <a:solidFill>
                  <a:srgbClr val="63757B"/>
                </a:solidFill>
              </a:rPr>
              <a:t> </a:t>
            </a:r>
            <a:endParaRPr lang="en-US" sz="1400" dirty="0">
              <a:solidFill>
                <a:srgbClr val="63757B"/>
              </a:solidFill>
            </a:endParaRPr>
          </a:p>
        </p:txBody>
      </p:sp>
      <p:sp>
        <p:nvSpPr>
          <p:cNvPr id="229" name="Num 06"/>
          <p:cNvSpPr/>
          <p:nvPr/>
        </p:nvSpPr>
        <p:spPr>
          <a:xfrm>
            <a:off x="8102600" y="5511800"/>
            <a:ext cx="431800" cy="279400"/>
          </a:xfrm>
          <a:prstGeom prst="roundRect">
            <a:avLst/>
          </a:prstGeom>
          <a:solidFill>
            <a:srgbClr val="4A5C63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230" name="Head 06"/>
          <p:cNvSpPr/>
          <p:nvPr/>
        </p:nvSpPr>
        <p:spPr>
          <a:xfrm>
            <a:off x="8636000" y="5486400"/>
            <a:ext cx="25654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1800" b="1" dirty="0">
                <a:solidFill>
                  <a:srgbClr val="12313A"/>
                </a:solidFill>
              </a:rPr>
              <a:t>Stock-out</a:t>
            </a:r>
          </a:p>
        </p:txBody>
      </p:sp>
      <p:sp>
        <p:nvSpPr>
          <p:cNvPr id="231" name="Focus 06"/>
          <p:cNvSpPr/>
          <p:nvPr/>
        </p:nvSpPr>
        <p:spPr>
          <a:xfrm>
            <a:off x="8102600" y="5867400"/>
            <a:ext cx="3098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10000"/>
              </a:lnSpc>
              <a:buNone/>
            </a:pPr>
            <a:r>
              <a:rPr lang="en-US" sz="1400" dirty="0">
                <a:solidFill>
                  <a:srgbClr val="3A4E56"/>
                </a:solidFill>
              </a:rPr>
              <a:t>Rate by dimension &amp; over time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F65431A-E132-9F0D-5262-6BF784AA5D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010" y="1295400"/>
            <a:ext cx="2953979" cy="13208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E26FF65-1616-D8D7-ED52-B8D6369925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477167"/>
            <a:ext cx="3048000" cy="95726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4FE352-DAB5-8F15-41FF-A47069A37F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00" y="1477167"/>
            <a:ext cx="3048000" cy="95726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34B59DE-5A35-8064-20F7-A9EA83A20B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3010" y="4038600"/>
            <a:ext cx="2953979" cy="1320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16101E2-D9DD-FC4E-324B-A0975ED3DD0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9010" y="4038600"/>
            <a:ext cx="2953979" cy="13208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534E08F-106D-45CE-8615-53E725E2FC4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79203" y="4038600"/>
            <a:ext cx="2945593" cy="132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01932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90A27-8DC3-3143-3F10-6EF90F474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000"/>
            <a:ext cx="7112000" cy="533400"/>
          </a:xfrm>
        </p:spPr>
        <p:txBody>
          <a:bodyPr>
            <a:normAutofit/>
          </a:bodyPr>
          <a:lstStyle/>
          <a:p>
            <a:pPr algn="l">
              <a:buNone/>
            </a:pPr>
            <a:r>
              <a:rPr lang="en-US" sz="3200" b="1" dirty="0"/>
              <a:t>Insight 01 – Trend</a:t>
            </a:r>
            <a:endParaRPr lang="en-US" sz="3200" b="1" dirty="0">
              <a:solidFill>
                <a:srgbClr val="12313A"/>
              </a:solidFill>
            </a:endParaRPr>
          </a:p>
        </p:txBody>
      </p:sp>
      <p:sp>
        <p:nvSpPr>
          <p:cNvPr id="302" name="Rule"/>
          <p:cNvSpPr/>
          <p:nvPr/>
        </p:nvSpPr>
        <p:spPr>
          <a:xfrm>
            <a:off x="838200" y="990600"/>
            <a:ext cx="10515600" cy="3810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3" name="Figure Frame"/>
          <p:cNvSpPr/>
          <p:nvPr/>
        </p:nvSpPr>
        <p:spPr>
          <a:xfrm>
            <a:off x="838200" y="2133077"/>
            <a:ext cx="6807200" cy="3353845"/>
          </a:xfrm>
          <a:prstGeom prst="rect">
            <a:avLst/>
          </a:prstGeom>
          <a:solidFill>
            <a:srgbClr val="FFFFFF"/>
          </a:solidFill>
          <a:ln w="9525">
            <a:noFill/>
            <a:prstDash val="dash"/>
          </a:ln>
        </p:spPr>
        <p:txBody>
          <a:bodyPr wrap="square" anchor="ctr"/>
          <a:lstStyle/>
          <a:p>
            <a:pPr algn="ctr">
              <a:buNone/>
            </a:pPr>
            <a:r>
              <a:rPr lang="en-US" sz="1400">
                <a:solidFill>
                  <a:srgbClr val="566A70"/>
                </a:solidFill>
              </a:rPr>
              <a:t> </a:t>
            </a:r>
            <a:endParaRPr lang="en-US" sz="1400" dirty="0">
              <a:solidFill>
                <a:srgbClr val="566A70"/>
              </a:solidFill>
            </a:endParaRPr>
          </a:p>
        </p:txBody>
      </p:sp>
      <p:sp>
        <p:nvSpPr>
          <p:cNvPr id="305" name="Headline"/>
          <p:cNvSpPr/>
          <p:nvPr/>
        </p:nvSpPr>
        <p:spPr>
          <a:xfrm>
            <a:off x="7950200" y="1219200"/>
            <a:ext cx="34036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8000"/>
              </a:lnSpc>
              <a:buNone/>
            </a:pPr>
            <a:r>
              <a:rPr lang="en-US" sz="1900" b="1" dirty="0">
                <a:solidFill>
                  <a:srgbClr val="12313A"/>
                </a:solidFill>
              </a:rPr>
              <a:t>Volume is flat YoY once the ramp is excluded.</a:t>
            </a:r>
          </a:p>
        </p:txBody>
      </p:sp>
      <p:sp>
        <p:nvSpPr>
          <p:cNvPr id="306" name="Stat Card 1"/>
          <p:cNvSpPr/>
          <p:nvPr/>
        </p:nvSpPr>
        <p:spPr>
          <a:xfrm>
            <a:off x="7950200" y="2286000"/>
            <a:ext cx="3403600" cy="101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5E4"/>
            </a:solidFill>
          </a:ln>
        </p:spPr>
        <p:txBody>
          <a:bodyPr anchor="t"/>
          <a:lstStyle/>
          <a:p>
            <a:endParaRPr lang="en-US"/>
          </a:p>
        </p:txBody>
      </p:sp>
      <p:sp>
        <p:nvSpPr>
          <p:cNvPr id="307" name="Stat Bar 1"/>
          <p:cNvSpPr/>
          <p:nvPr/>
        </p:nvSpPr>
        <p:spPr>
          <a:xfrm>
            <a:off x="7950200" y="2286000"/>
            <a:ext cx="50800" cy="101600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8" name="Stat Val 1"/>
          <p:cNvSpPr/>
          <p:nvPr/>
        </p:nvSpPr>
        <p:spPr>
          <a:xfrm>
            <a:off x="8178800" y="2387600"/>
            <a:ext cx="29972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2600" b="1" dirty="0">
                <a:solidFill>
                  <a:srgbClr val="0E7C7B"/>
                </a:solidFill>
              </a:rPr>
              <a:t>3.80M</a:t>
            </a:r>
          </a:p>
        </p:txBody>
      </p:sp>
      <p:sp>
        <p:nvSpPr>
          <p:cNvPr id="309" name="Stat Lbl 1"/>
          <p:cNvSpPr/>
          <p:nvPr/>
        </p:nvSpPr>
        <p:spPr>
          <a:xfrm>
            <a:off x="8178800" y="2819400"/>
            <a:ext cx="29972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6000"/>
              </a:lnSpc>
              <a:buNone/>
            </a:pPr>
            <a:r>
              <a:rPr lang="en-US" sz="1400" dirty="0">
                <a:solidFill>
                  <a:srgbClr val="3A4E56"/>
                </a:solidFill>
              </a:rPr>
              <a:t>Total Units Sold</a:t>
            </a:r>
          </a:p>
        </p:txBody>
      </p:sp>
      <p:sp>
        <p:nvSpPr>
          <p:cNvPr id="310" name="Stat Card 2"/>
          <p:cNvSpPr/>
          <p:nvPr/>
        </p:nvSpPr>
        <p:spPr>
          <a:xfrm>
            <a:off x="7950200" y="3403600"/>
            <a:ext cx="3403600" cy="101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5E4"/>
            </a:solidFill>
          </a:ln>
        </p:spPr>
        <p:txBody>
          <a:bodyPr anchor="t"/>
          <a:lstStyle/>
          <a:p>
            <a:endParaRPr lang="en-US"/>
          </a:p>
        </p:txBody>
      </p:sp>
      <p:sp>
        <p:nvSpPr>
          <p:cNvPr id="311" name="Stat Bar 2"/>
          <p:cNvSpPr/>
          <p:nvPr/>
        </p:nvSpPr>
        <p:spPr>
          <a:xfrm>
            <a:off x="7950200" y="3403600"/>
            <a:ext cx="50800" cy="101600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2" name="Stat Val 2"/>
          <p:cNvSpPr/>
          <p:nvPr/>
        </p:nvSpPr>
        <p:spPr>
          <a:xfrm>
            <a:off x="8178800" y="3505200"/>
            <a:ext cx="29972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2600" b="1" dirty="0">
                <a:solidFill>
                  <a:srgbClr val="0E7C7B"/>
                </a:solidFill>
              </a:rPr>
              <a:t>−0.9%</a:t>
            </a:r>
          </a:p>
        </p:txBody>
      </p:sp>
      <p:sp>
        <p:nvSpPr>
          <p:cNvPr id="313" name="Stat Lbl 2"/>
          <p:cNvSpPr/>
          <p:nvPr/>
        </p:nvSpPr>
        <p:spPr>
          <a:xfrm>
            <a:off x="8178800" y="3937000"/>
            <a:ext cx="29972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6000"/>
              </a:lnSpc>
              <a:buNone/>
            </a:pPr>
            <a:r>
              <a:rPr lang="en-US" sz="1400" dirty="0">
                <a:solidFill>
                  <a:srgbClr val="3A4E56"/>
                </a:solidFill>
              </a:rPr>
              <a:t>2024 vs 2023</a:t>
            </a:r>
          </a:p>
        </p:txBody>
      </p:sp>
      <p:sp>
        <p:nvSpPr>
          <p:cNvPr id="314" name="Stat Card 3"/>
          <p:cNvSpPr/>
          <p:nvPr/>
        </p:nvSpPr>
        <p:spPr>
          <a:xfrm>
            <a:off x="7950200" y="4521200"/>
            <a:ext cx="3403600" cy="101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5E4"/>
            </a:solidFill>
          </a:ln>
        </p:spPr>
        <p:txBody>
          <a:bodyPr anchor="t"/>
          <a:lstStyle/>
          <a:p>
            <a:endParaRPr lang="en-US"/>
          </a:p>
        </p:txBody>
      </p:sp>
      <p:sp>
        <p:nvSpPr>
          <p:cNvPr id="315" name="Stat Bar 3"/>
          <p:cNvSpPr/>
          <p:nvPr/>
        </p:nvSpPr>
        <p:spPr>
          <a:xfrm>
            <a:off x="7950200" y="4521200"/>
            <a:ext cx="50800" cy="101600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6" name="Stat Val 3"/>
          <p:cNvSpPr/>
          <p:nvPr/>
        </p:nvSpPr>
        <p:spPr>
          <a:xfrm>
            <a:off x="8178800" y="4622800"/>
            <a:ext cx="29972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2600" b="1" dirty="0">
                <a:solidFill>
                  <a:srgbClr val="0E7C7B"/>
                </a:solidFill>
              </a:rPr>
              <a:t>30–35k</a:t>
            </a:r>
          </a:p>
        </p:txBody>
      </p:sp>
      <p:sp>
        <p:nvSpPr>
          <p:cNvPr id="317" name="Stat Lbl 3"/>
          <p:cNvSpPr/>
          <p:nvPr/>
        </p:nvSpPr>
        <p:spPr>
          <a:xfrm>
            <a:off x="8178800" y="5054600"/>
            <a:ext cx="29972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6000"/>
              </a:lnSpc>
              <a:buNone/>
            </a:pPr>
            <a:r>
              <a:rPr lang="en-US" sz="1400" dirty="0">
                <a:solidFill>
                  <a:srgbClr val="3A4E56"/>
                </a:solidFill>
              </a:rPr>
              <a:t>Weekly range in 2024</a:t>
            </a:r>
          </a:p>
        </p:txBody>
      </p:sp>
      <p:sp>
        <p:nvSpPr>
          <p:cNvPr id="318" name="Note"/>
          <p:cNvSpPr/>
          <p:nvPr/>
        </p:nvSpPr>
        <p:spPr>
          <a:xfrm>
            <a:off x="7950200" y="5689600"/>
            <a:ext cx="3403600" cy="711200"/>
          </a:xfrm>
          <a:prstGeom prst="roundRect">
            <a:avLst/>
          </a:prstGeom>
          <a:solidFill>
            <a:srgbClr val="F1F4F3"/>
          </a:solidFill>
          <a:ln>
            <a:noFill/>
          </a:ln>
        </p:spPr>
        <p:txBody>
          <a:bodyPr wrap="square" lIns="114300" tIns="68580" rIns="114300" bIns="68580" anchor="ctr"/>
          <a:lstStyle/>
          <a:p>
            <a:pPr>
              <a:lnSpc>
                <a:spcPct val="104000"/>
              </a:lnSpc>
              <a:buNone/>
            </a:pPr>
            <a:r>
              <a:rPr lang="en-US" sz="1400" dirty="0">
                <a:solidFill>
                  <a:srgbClr val="2A3C43"/>
                </a:solidFill>
              </a:rPr>
              <a:t>The +165% “2023 vs 2022” is an artifact of a partial ramp-up year in 2022 and is not treated as growth.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843CEDF-B844-88E7-48E5-8684B7FE56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000" y="2310877"/>
            <a:ext cx="6705600" cy="2998246"/>
          </a:xfrm>
          <a:prstGeom prst="rect">
            <a:avLst/>
          </a:prstGeom>
        </p:spPr>
      </p:pic>
      <p:sp>
        <p:nvSpPr>
          <p:cNvPr id="352" name="Read Strip"/>
          <p:cNvSpPr/>
          <p:nvPr/>
        </p:nvSpPr>
        <p:spPr>
          <a:xfrm>
            <a:off x="838200" y="5715000"/>
            <a:ext cx="68072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171450" indent="-171450">
              <a:lnSpc>
                <a:spcPct val="108000"/>
              </a:lnSpc>
              <a:spcAft>
                <a:spcPts val="400"/>
              </a:spcAft>
              <a:buFont typeface="Arial"/>
              <a:buChar char="•"/>
            </a:pPr>
            <a:r>
              <a:rPr lang="en-US" sz="1400" dirty="0">
                <a:solidFill>
                  <a:srgbClr val="2A3C43"/>
                </a:solidFill>
              </a:rPr>
              <a:t>Ramp-up through 2022 as SKUs were onboarded, then a plateau from 2023</a:t>
            </a:r>
          </a:p>
          <a:p>
            <a:pPr marL="171450" indent="-171450">
              <a:lnSpc>
                <a:spcPct val="108000"/>
              </a:lnSpc>
              <a:spcAft>
                <a:spcPts val="400"/>
              </a:spcAft>
              <a:buFont typeface="Arial"/>
              <a:buChar char="•"/>
            </a:pPr>
            <a:r>
              <a:rPr lang="en-US" sz="1400" dirty="0">
                <a:solidFill>
                  <a:srgbClr val="2A3C43"/>
                </a:solidFill>
              </a:rPr>
              <a:t>In year 2024 runs in a 30–35k weekly band after the mid-2023 peak near 39k</a:t>
            </a:r>
          </a:p>
        </p:txBody>
      </p:sp>
      <p:sp>
        <p:nvSpPr>
          <p:cNvPr id="353" name="Read Rule"/>
          <p:cNvSpPr/>
          <p:nvPr/>
        </p:nvSpPr>
        <p:spPr>
          <a:xfrm>
            <a:off x="838200" y="5562600"/>
            <a:ext cx="914400" cy="3175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2977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90A27-8DC3-3143-3F10-6EF90F474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000"/>
            <a:ext cx="7112000" cy="533400"/>
          </a:xfrm>
        </p:spPr>
        <p:txBody>
          <a:bodyPr/>
          <a:lstStyle/>
          <a:p>
            <a:r>
              <a:rPr lang="en-US" sz="3200" b="1" dirty="0"/>
              <a:t>Insight 02 - Seasonality</a:t>
            </a:r>
            <a:endParaRPr lang="en-US" sz="3200" b="1" dirty="0">
              <a:solidFill>
                <a:srgbClr val="12313A"/>
              </a:solidFill>
            </a:endParaRPr>
          </a:p>
        </p:txBody>
      </p:sp>
      <p:sp>
        <p:nvSpPr>
          <p:cNvPr id="302" name="Rule"/>
          <p:cNvSpPr/>
          <p:nvPr/>
        </p:nvSpPr>
        <p:spPr>
          <a:xfrm>
            <a:off x="838200" y="990600"/>
            <a:ext cx="10515600" cy="38100"/>
          </a:xfrm>
          <a:prstGeom prst="rect">
            <a:avLst/>
          </a:prstGeom>
          <a:solidFill>
            <a:srgbClr val="E883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3" name="Figure Frame"/>
          <p:cNvSpPr/>
          <p:nvPr/>
        </p:nvSpPr>
        <p:spPr>
          <a:xfrm>
            <a:off x="838200" y="2579207"/>
            <a:ext cx="6807200" cy="2461584"/>
          </a:xfrm>
          <a:prstGeom prst="rect">
            <a:avLst/>
          </a:prstGeom>
          <a:solidFill>
            <a:srgbClr val="FFFFFF"/>
          </a:solidFill>
          <a:ln w="9525">
            <a:noFill/>
            <a:prstDash val="dash"/>
          </a:ln>
        </p:spPr>
        <p:txBody>
          <a:bodyPr wrap="square" anchor="ctr"/>
          <a:lstStyle/>
          <a:p>
            <a:pPr algn="ctr">
              <a:buNone/>
            </a:pPr>
            <a:r>
              <a:rPr lang="en-US" sz="1400">
                <a:solidFill>
                  <a:srgbClr val="566A70"/>
                </a:solidFill>
              </a:rPr>
              <a:t> </a:t>
            </a:r>
            <a:endParaRPr lang="en-US" sz="1400" dirty="0">
              <a:solidFill>
                <a:srgbClr val="566A70"/>
              </a:solidFill>
            </a:endParaRPr>
          </a:p>
        </p:txBody>
      </p:sp>
      <p:sp>
        <p:nvSpPr>
          <p:cNvPr id="305" name="Headline"/>
          <p:cNvSpPr/>
          <p:nvPr/>
        </p:nvSpPr>
        <p:spPr>
          <a:xfrm>
            <a:off x="7950200" y="1219200"/>
            <a:ext cx="34036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8000"/>
              </a:lnSpc>
              <a:buNone/>
            </a:pPr>
            <a:r>
              <a:rPr lang="en-US" sz="1900" b="1" dirty="0">
                <a:solidFill>
                  <a:srgbClr val="12313A"/>
                </a:solidFill>
              </a:rPr>
              <a:t>Demand is strongly seasonal by month, not by weekday.</a:t>
            </a:r>
          </a:p>
        </p:txBody>
      </p:sp>
      <p:sp>
        <p:nvSpPr>
          <p:cNvPr id="306" name="Stat Card 1"/>
          <p:cNvSpPr/>
          <p:nvPr/>
        </p:nvSpPr>
        <p:spPr>
          <a:xfrm>
            <a:off x="7950200" y="2286000"/>
            <a:ext cx="3403600" cy="101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5E4"/>
            </a:solidFill>
          </a:ln>
        </p:spPr>
        <p:txBody>
          <a:bodyPr anchor="t"/>
          <a:lstStyle/>
          <a:p>
            <a:endParaRPr lang="en-US"/>
          </a:p>
        </p:txBody>
      </p:sp>
      <p:sp>
        <p:nvSpPr>
          <p:cNvPr id="307" name="Stat Bar 1"/>
          <p:cNvSpPr/>
          <p:nvPr/>
        </p:nvSpPr>
        <p:spPr>
          <a:xfrm>
            <a:off x="7950200" y="2286000"/>
            <a:ext cx="50800" cy="1016000"/>
          </a:xfrm>
          <a:prstGeom prst="rect">
            <a:avLst/>
          </a:prstGeom>
          <a:solidFill>
            <a:srgbClr val="E883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8" name="Stat Val 1"/>
          <p:cNvSpPr/>
          <p:nvPr/>
        </p:nvSpPr>
        <p:spPr>
          <a:xfrm>
            <a:off x="8178800" y="2387600"/>
            <a:ext cx="29972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2600" b="1" dirty="0">
                <a:solidFill>
                  <a:srgbClr val="E8833A"/>
                </a:solidFill>
              </a:rPr>
              <a:t>40%</a:t>
            </a:r>
          </a:p>
        </p:txBody>
      </p:sp>
      <p:sp>
        <p:nvSpPr>
          <p:cNvPr id="309" name="Stat Lbl 1"/>
          <p:cNvSpPr/>
          <p:nvPr/>
        </p:nvSpPr>
        <p:spPr>
          <a:xfrm>
            <a:off x="8178800" y="2819400"/>
            <a:ext cx="29972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6000"/>
              </a:lnSpc>
              <a:buNone/>
            </a:pPr>
            <a:r>
              <a:rPr lang="en-US" sz="1400" dirty="0">
                <a:solidFill>
                  <a:srgbClr val="3A4E56"/>
                </a:solidFill>
              </a:rPr>
              <a:t>Peak to trough swing in avg monthly units</a:t>
            </a:r>
          </a:p>
        </p:txBody>
      </p:sp>
      <p:sp>
        <p:nvSpPr>
          <p:cNvPr id="310" name="Stat Card 2"/>
          <p:cNvSpPr/>
          <p:nvPr/>
        </p:nvSpPr>
        <p:spPr>
          <a:xfrm>
            <a:off x="7950200" y="3403600"/>
            <a:ext cx="3403600" cy="101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5E4"/>
            </a:solidFill>
          </a:ln>
        </p:spPr>
        <p:txBody>
          <a:bodyPr anchor="t"/>
          <a:lstStyle/>
          <a:p>
            <a:endParaRPr lang="en-US"/>
          </a:p>
        </p:txBody>
      </p:sp>
      <p:sp>
        <p:nvSpPr>
          <p:cNvPr id="311" name="Stat Bar 2"/>
          <p:cNvSpPr/>
          <p:nvPr/>
        </p:nvSpPr>
        <p:spPr>
          <a:xfrm>
            <a:off x="7950200" y="3403600"/>
            <a:ext cx="50800" cy="1016000"/>
          </a:xfrm>
          <a:prstGeom prst="rect">
            <a:avLst/>
          </a:prstGeom>
          <a:solidFill>
            <a:srgbClr val="E883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2" name="Stat Val 2"/>
          <p:cNvSpPr/>
          <p:nvPr/>
        </p:nvSpPr>
        <p:spPr>
          <a:xfrm>
            <a:off x="8178800" y="3505200"/>
            <a:ext cx="29972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2600" b="1" dirty="0">
                <a:solidFill>
                  <a:srgbClr val="E8833A"/>
                </a:solidFill>
              </a:rPr>
              <a:t>Jun–Jul</a:t>
            </a:r>
          </a:p>
        </p:txBody>
      </p:sp>
      <p:sp>
        <p:nvSpPr>
          <p:cNvPr id="313" name="Stat Lbl 2"/>
          <p:cNvSpPr/>
          <p:nvPr/>
        </p:nvSpPr>
        <p:spPr>
          <a:xfrm>
            <a:off x="8178800" y="3937000"/>
            <a:ext cx="29972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6000"/>
              </a:lnSpc>
              <a:buNone/>
            </a:pPr>
            <a:r>
              <a:rPr lang="en-US" sz="1400" dirty="0">
                <a:solidFill>
                  <a:srgbClr val="3A4E56"/>
                </a:solidFill>
              </a:rPr>
              <a:t>Peak months, Nov–Dec is the trough</a:t>
            </a:r>
          </a:p>
        </p:txBody>
      </p:sp>
      <p:sp>
        <p:nvSpPr>
          <p:cNvPr id="314" name="Stat Card 3"/>
          <p:cNvSpPr/>
          <p:nvPr/>
        </p:nvSpPr>
        <p:spPr>
          <a:xfrm>
            <a:off x="7950200" y="4521200"/>
            <a:ext cx="3403600" cy="101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5E4"/>
            </a:solidFill>
          </a:ln>
        </p:spPr>
        <p:txBody>
          <a:bodyPr anchor="t"/>
          <a:lstStyle/>
          <a:p>
            <a:endParaRPr lang="en-US"/>
          </a:p>
        </p:txBody>
      </p:sp>
      <p:sp>
        <p:nvSpPr>
          <p:cNvPr id="315" name="Stat Bar 3"/>
          <p:cNvSpPr/>
          <p:nvPr/>
        </p:nvSpPr>
        <p:spPr>
          <a:xfrm>
            <a:off x="7950200" y="4521200"/>
            <a:ext cx="50800" cy="1016000"/>
          </a:xfrm>
          <a:prstGeom prst="rect">
            <a:avLst/>
          </a:prstGeom>
          <a:solidFill>
            <a:srgbClr val="E883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6" name="Stat Val 3"/>
          <p:cNvSpPr/>
          <p:nvPr/>
        </p:nvSpPr>
        <p:spPr>
          <a:xfrm>
            <a:off x="8178800" y="4622800"/>
            <a:ext cx="29972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2600" b="1" dirty="0">
                <a:solidFill>
                  <a:srgbClr val="E8833A"/>
                </a:solidFill>
              </a:rPr>
              <a:t>20</a:t>
            </a:r>
          </a:p>
        </p:txBody>
      </p:sp>
      <p:sp>
        <p:nvSpPr>
          <p:cNvPr id="317" name="Stat Lbl 3"/>
          <p:cNvSpPr/>
          <p:nvPr/>
        </p:nvSpPr>
        <p:spPr>
          <a:xfrm>
            <a:off x="8178800" y="5054600"/>
            <a:ext cx="29972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6000"/>
              </a:lnSpc>
              <a:buNone/>
            </a:pPr>
            <a:r>
              <a:rPr lang="en-US" sz="1400" dirty="0">
                <a:solidFill>
                  <a:srgbClr val="3A4E56"/>
                </a:solidFill>
              </a:rPr>
              <a:t>Avg units on every weekday</a:t>
            </a:r>
          </a:p>
        </p:txBody>
      </p:sp>
      <p:sp>
        <p:nvSpPr>
          <p:cNvPr id="318" name="Note"/>
          <p:cNvSpPr/>
          <p:nvPr/>
        </p:nvSpPr>
        <p:spPr>
          <a:xfrm>
            <a:off x="7950200" y="5689600"/>
            <a:ext cx="3403600" cy="711200"/>
          </a:xfrm>
          <a:prstGeom prst="roundRect">
            <a:avLst/>
          </a:prstGeom>
          <a:solidFill>
            <a:srgbClr val="F1F4F3"/>
          </a:solidFill>
          <a:ln>
            <a:noFill/>
          </a:ln>
        </p:spPr>
        <p:txBody>
          <a:bodyPr wrap="square" lIns="114300" tIns="68580" rIns="114300" bIns="68580" anchor="ctr"/>
          <a:lstStyle/>
          <a:p>
            <a:pPr>
              <a:lnSpc>
                <a:spcPct val="104000"/>
              </a:lnSpc>
              <a:buNone/>
            </a:pPr>
            <a:r>
              <a:rPr lang="en-US" sz="1400" dirty="0">
                <a:solidFill>
                  <a:srgbClr val="2A3C43"/>
                </a:solidFill>
              </a:rPr>
              <a:t>Plan capacity and promo calendars by month; day-of-week carries no usable signal.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9576894-E296-6025-FBB5-B9487CB0BF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000" y="2757007"/>
            <a:ext cx="6705600" cy="2105984"/>
          </a:xfrm>
          <a:prstGeom prst="rect">
            <a:avLst/>
          </a:prstGeom>
        </p:spPr>
      </p:pic>
      <p:sp>
        <p:nvSpPr>
          <p:cNvPr id="352" name="Read Strip"/>
          <p:cNvSpPr/>
          <p:nvPr/>
        </p:nvSpPr>
        <p:spPr>
          <a:xfrm>
            <a:off x="838200" y="5270500"/>
            <a:ext cx="6807200" cy="11303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/>
          <a:lstStyle/>
          <a:p>
            <a:pPr marL="171450" indent="-171450">
              <a:lnSpc>
                <a:spcPct val="108000"/>
              </a:lnSpc>
              <a:spcAft>
                <a:spcPts val="400"/>
              </a:spcAft>
              <a:buFont typeface="Arial"/>
              <a:buChar char="•"/>
            </a:pPr>
            <a:r>
              <a:rPr lang="en-US" sz="1400" dirty="0">
                <a:solidFill>
                  <a:srgbClr val="2A3C43"/>
                </a:solidFill>
              </a:rPr>
              <a:t>Monthly profile climbs to a Jun–Jul peak, then falls to a Nov–Dec trough</a:t>
            </a:r>
          </a:p>
          <a:p>
            <a:pPr marL="171450" indent="-171450">
              <a:lnSpc>
                <a:spcPct val="108000"/>
              </a:lnSpc>
              <a:spcAft>
                <a:spcPts val="400"/>
              </a:spcAft>
              <a:buFont typeface="Arial"/>
              <a:buChar char="•"/>
            </a:pPr>
            <a:r>
              <a:rPr lang="en-US" sz="1400" dirty="0">
                <a:solidFill>
                  <a:srgbClr val="2A3C43"/>
                </a:solidFill>
              </a:rPr>
              <a:t>Weekday profile is flat at 20 units</a:t>
            </a:r>
          </a:p>
        </p:txBody>
      </p:sp>
      <p:sp>
        <p:nvSpPr>
          <p:cNvPr id="353" name="Read Rule"/>
          <p:cNvSpPr/>
          <p:nvPr/>
        </p:nvSpPr>
        <p:spPr>
          <a:xfrm>
            <a:off x="838200" y="5118100"/>
            <a:ext cx="914400" cy="31750"/>
          </a:xfrm>
          <a:prstGeom prst="rect">
            <a:avLst/>
          </a:prstGeom>
          <a:solidFill>
            <a:srgbClr val="E883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5555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90A27-8DC3-3143-3F10-6EF90F474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000"/>
            <a:ext cx="7112000" cy="533400"/>
          </a:xfrm>
        </p:spPr>
        <p:txBody>
          <a:bodyPr>
            <a:normAutofit/>
          </a:bodyPr>
          <a:lstStyle/>
          <a:p>
            <a:r>
              <a:rPr lang="en-US" sz="3200" b="1" dirty="0"/>
              <a:t>Insight 03 - Product Hierarchy</a:t>
            </a:r>
            <a:endParaRPr lang="en-US" sz="3200" b="1" dirty="0">
              <a:solidFill>
                <a:srgbClr val="12313A"/>
              </a:solidFill>
            </a:endParaRPr>
          </a:p>
        </p:txBody>
      </p:sp>
      <p:sp>
        <p:nvSpPr>
          <p:cNvPr id="302" name="Rule"/>
          <p:cNvSpPr/>
          <p:nvPr/>
        </p:nvSpPr>
        <p:spPr>
          <a:xfrm>
            <a:off x="838200" y="990600"/>
            <a:ext cx="10515600" cy="38100"/>
          </a:xfrm>
          <a:prstGeom prst="rect">
            <a:avLst/>
          </a:prstGeom>
          <a:solidFill>
            <a:srgbClr val="2C6E9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3" name="Figure Frame"/>
          <p:cNvSpPr/>
          <p:nvPr/>
        </p:nvSpPr>
        <p:spPr>
          <a:xfrm>
            <a:off x="838200" y="2579207"/>
            <a:ext cx="6807200" cy="2461584"/>
          </a:xfrm>
          <a:prstGeom prst="rect">
            <a:avLst/>
          </a:prstGeom>
          <a:solidFill>
            <a:srgbClr val="FFFFFF"/>
          </a:solidFill>
          <a:ln w="9525">
            <a:noFill/>
            <a:prstDash val="dash"/>
          </a:ln>
        </p:spPr>
        <p:txBody>
          <a:bodyPr wrap="square" anchor="ctr"/>
          <a:lstStyle/>
          <a:p>
            <a:pPr algn="ctr">
              <a:buNone/>
            </a:pPr>
            <a:r>
              <a:rPr lang="en-US" sz="1400">
                <a:solidFill>
                  <a:srgbClr val="566A70"/>
                </a:solidFill>
              </a:rPr>
              <a:t> </a:t>
            </a:r>
            <a:endParaRPr lang="en-US" sz="1400" dirty="0">
              <a:solidFill>
                <a:srgbClr val="566A70"/>
              </a:solidFill>
            </a:endParaRPr>
          </a:p>
        </p:txBody>
      </p:sp>
      <p:sp>
        <p:nvSpPr>
          <p:cNvPr id="305" name="Headline"/>
          <p:cNvSpPr/>
          <p:nvPr/>
        </p:nvSpPr>
        <p:spPr>
          <a:xfrm>
            <a:off x="7950200" y="1219200"/>
            <a:ext cx="34036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8000"/>
              </a:lnSpc>
              <a:buNone/>
            </a:pPr>
            <a:r>
              <a:rPr lang="en-US" sz="1900" b="1" dirty="0">
                <a:solidFill>
                  <a:srgbClr val="12313A"/>
                </a:solidFill>
              </a:rPr>
              <a:t>The portfolio is concentrated in a few categories and SKUs.</a:t>
            </a:r>
          </a:p>
        </p:txBody>
      </p:sp>
      <p:sp>
        <p:nvSpPr>
          <p:cNvPr id="306" name="Stat Card 1"/>
          <p:cNvSpPr/>
          <p:nvPr/>
        </p:nvSpPr>
        <p:spPr>
          <a:xfrm>
            <a:off x="7950200" y="2286000"/>
            <a:ext cx="3403600" cy="101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5E4"/>
            </a:solidFill>
          </a:ln>
        </p:spPr>
        <p:txBody>
          <a:bodyPr anchor="t"/>
          <a:lstStyle/>
          <a:p>
            <a:endParaRPr lang="en-US"/>
          </a:p>
        </p:txBody>
      </p:sp>
      <p:sp>
        <p:nvSpPr>
          <p:cNvPr id="307" name="Stat Bar 1"/>
          <p:cNvSpPr/>
          <p:nvPr/>
        </p:nvSpPr>
        <p:spPr>
          <a:xfrm>
            <a:off x="7950200" y="2286000"/>
            <a:ext cx="50800" cy="1016000"/>
          </a:xfrm>
          <a:prstGeom prst="rect">
            <a:avLst/>
          </a:prstGeom>
          <a:solidFill>
            <a:srgbClr val="2C6E9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8" name="Stat Val 1"/>
          <p:cNvSpPr/>
          <p:nvPr/>
        </p:nvSpPr>
        <p:spPr>
          <a:xfrm>
            <a:off x="8178800" y="2387600"/>
            <a:ext cx="29972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2600" b="1" dirty="0">
                <a:solidFill>
                  <a:srgbClr val="2C6E9B"/>
                </a:solidFill>
              </a:rPr>
              <a:t>41.2%</a:t>
            </a:r>
          </a:p>
        </p:txBody>
      </p:sp>
      <p:sp>
        <p:nvSpPr>
          <p:cNvPr id="309" name="Stat Lbl 1"/>
          <p:cNvSpPr/>
          <p:nvPr/>
        </p:nvSpPr>
        <p:spPr>
          <a:xfrm>
            <a:off x="8178800" y="2819400"/>
            <a:ext cx="29972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6000"/>
              </a:lnSpc>
              <a:buNone/>
            </a:pPr>
            <a:r>
              <a:rPr lang="en-US" sz="1400" dirty="0">
                <a:solidFill>
                  <a:srgbClr val="3A4E56"/>
                </a:solidFill>
              </a:rPr>
              <a:t>Total volume comes from Yogurt alone</a:t>
            </a:r>
          </a:p>
        </p:txBody>
      </p:sp>
      <p:sp>
        <p:nvSpPr>
          <p:cNvPr id="310" name="Stat Card 2"/>
          <p:cNvSpPr/>
          <p:nvPr/>
        </p:nvSpPr>
        <p:spPr>
          <a:xfrm>
            <a:off x="7950200" y="3403600"/>
            <a:ext cx="3403600" cy="101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5E4"/>
            </a:solidFill>
          </a:ln>
        </p:spPr>
        <p:txBody>
          <a:bodyPr anchor="t"/>
          <a:lstStyle/>
          <a:p>
            <a:endParaRPr lang="en-US"/>
          </a:p>
        </p:txBody>
      </p:sp>
      <p:sp>
        <p:nvSpPr>
          <p:cNvPr id="311" name="Stat Bar 2"/>
          <p:cNvSpPr/>
          <p:nvPr/>
        </p:nvSpPr>
        <p:spPr>
          <a:xfrm>
            <a:off x="7950200" y="3403600"/>
            <a:ext cx="50800" cy="1016000"/>
          </a:xfrm>
          <a:prstGeom prst="rect">
            <a:avLst/>
          </a:prstGeom>
          <a:solidFill>
            <a:srgbClr val="2C6E9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2" name="Stat Val 2"/>
          <p:cNvSpPr/>
          <p:nvPr/>
        </p:nvSpPr>
        <p:spPr>
          <a:xfrm>
            <a:off x="8178800" y="3505200"/>
            <a:ext cx="29972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2600" b="1" dirty="0">
                <a:solidFill>
                  <a:srgbClr val="2C6E9B"/>
                </a:solidFill>
              </a:rPr>
              <a:t>23 of 30</a:t>
            </a:r>
          </a:p>
        </p:txBody>
      </p:sp>
      <p:sp>
        <p:nvSpPr>
          <p:cNvPr id="313" name="Stat Lbl 2"/>
          <p:cNvSpPr/>
          <p:nvPr/>
        </p:nvSpPr>
        <p:spPr>
          <a:xfrm>
            <a:off x="8178800" y="3937000"/>
            <a:ext cx="29972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6000"/>
              </a:lnSpc>
              <a:buNone/>
            </a:pPr>
            <a:r>
              <a:rPr lang="en-US" sz="1400" dirty="0">
                <a:solidFill>
                  <a:srgbClr val="3A4E56"/>
                </a:solidFill>
              </a:rPr>
              <a:t>SKUs drive 80% of volume</a:t>
            </a:r>
          </a:p>
        </p:txBody>
      </p:sp>
      <p:sp>
        <p:nvSpPr>
          <p:cNvPr id="314" name="Stat Card 3"/>
          <p:cNvSpPr/>
          <p:nvPr/>
        </p:nvSpPr>
        <p:spPr>
          <a:xfrm>
            <a:off x="7950200" y="4521200"/>
            <a:ext cx="3403600" cy="101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5E4"/>
            </a:solidFill>
          </a:ln>
        </p:spPr>
        <p:txBody>
          <a:bodyPr anchor="t"/>
          <a:lstStyle/>
          <a:p>
            <a:endParaRPr lang="en-US"/>
          </a:p>
        </p:txBody>
      </p:sp>
      <p:sp>
        <p:nvSpPr>
          <p:cNvPr id="315" name="Stat Bar 3"/>
          <p:cNvSpPr/>
          <p:nvPr/>
        </p:nvSpPr>
        <p:spPr>
          <a:xfrm>
            <a:off x="7950200" y="4521200"/>
            <a:ext cx="50800" cy="1016000"/>
          </a:xfrm>
          <a:prstGeom prst="rect">
            <a:avLst/>
          </a:prstGeom>
          <a:solidFill>
            <a:srgbClr val="2C6E9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6" name="Stat Val 3"/>
          <p:cNvSpPr/>
          <p:nvPr/>
        </p:nvSpPr>
        <p:spPr>
          <a:xfrm>
            <a:off x="8178800" y="4622800"/>
            <a:ext cx="29972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2600" b="1" dirty="0">
                <a:solidFill>
                  <a:srgbClr val="2C6E9B"/>
                </a:solidFill>
              </a:rPr>
              <a:t>7 SKUs</a:t>
            </a:r>
          </a:p>
        </p:txBody>
      </p:sp>
      <p:sp>
        <p:nvSpPr>
          <p:cNvPr id="317" name="Stat Lbl 3"/>
          <p:cNvSpPr/>
          <p:nvPr/>
        </p:nvSpPr>
        <p:spPr>
          <a:xfrm>
            <a:off x="8178800" y="5054600"/>
            <a:ext cx="29972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6000"/>
              </a:lnSpc>
              <a:buNone/>
            </a:pPr>
            <a:r>
              <a:rPr lang="en-US" sz="1400" dirty="0">
                <a:solidFill>
                  <a:srgbClr val="3A4E56"/>
                </a:solidFill>
              </a:rPr>
              <a:t>Low-volume</a:t>
            </a:r>
          </a:p>
        </p:txBody>
      </p:sp>
      <p:sp>
        <p:nvSpPr>
          <p:cNvPr id="318" name="Note"/>
          <p:cNvSpPr/>
          <p:nvPr/>
        </p:nvSpPr>
        <p:spPr>
          <a:xfrm>
            <a:off x="7950200" y="5689600"/>
            <a:ext cx="3403600" cy="711200"/>
          </a:xfrm>
          <a:prstGeom prst="roundRect">
            <a:avLst/>
          </a:prstGeom>
          <a:solidFill>
            <a:srgbClr val="F1F4F3"/>
          </a:solidFill>
          <a:ln>
            <a:noFill/>
          </a:ln>
        </p:spPr>
        <p:txBody>
          <a:bodyPr wrap="square" lIns="114300" tIns="68580" rIns="114300" bIns="68580" anchor="ctr"/>
          <a:lstStyle/>
          <a:p>
            <a:pPr>
              <a:lnSpc>
                <a:spcPct val="104000"/>
              </a:lnSpc>
              <a:buNone/>
            </a:pPr>
            <a:r>
              <a:rPr lang="en-US" sz="1400" dirty="0">
                <a:solidFill>
                  <a:srgbClr val="2A3C43"/>
                </a:solidFill>
              </a:rPr>
              <a:t>Focus forecasting effort and shelf space on the head of the range, review the tail for delisting.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EBEEB8-936E-0CE2-55AF-0F7F098491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000" y="2757007"/>
            <a:ext cx="6705600" cy="2105984"/>
          </a:xfrm>
          <a:prstGeom prst="rect">
            <a:avLst/>
          </a:prstGeom>
        </p:spPr>
      </p:pic>
      <p:sp>
        <p:nvSpPr>
          <p:cNvPr id="352" name="Read Strip"/>
          <p:cNvSpPr/>
          <p:nvPr/>
        </p:nvSpPr>
        <p:spPr>
          <a:xfrm>
            <a:off x="838200" y="5270500"/>
            <a:ext cx="6807200" cy="1130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171450" indent="-171450">
              <a:lnSpc>
                <a:spcPct val="108000"/>
              </a:lnSpc>
              <a:spcAft>
                <a:spcPts val="400"/>
              </a:spcAft>
              <a:buFont typeface="Arial"/>
              <a:buChar char="•"/>
            </a:pPr>
            <a:r>
              <a:rPr lang="en-US" sz="1400" dirty="0">
                <a:solidFill>
                  <a:srgbClr val="2A3C43"/>
                </a:solidFill>
              </a:rPr>
              <a:t>Yogurt dominates at 1.56M units, Juice is marginal at 0.12M</a:t>
            </a:r>
          </a:p>
          <a:p>
            <a:pPr marL="171450" indent="-171450">
              <a:lnSpc>
                <a:spcPct val="108000"/>
              </a:lnSpc>
              <a:spcAft>
                <a:spcPts val="400"/>
              </a:spcAft>
              <a:buFont typeface="Arial"/>
              <a:buChar char="•"/>
            </a:pPr>
            <a:r>
              <a:rPr lang="en-US" sz="1400" dirty="0">
                <a:solidFill>
                  <a:srgbClr val="2A3C43"/>
                </a:solidFill>
              </a:rPr>
              <a:t>Top brands are SnBrand2, YoBrand4 and YoBrand3</a:t>
            </a:r>
          </a:p>
        </p:txBody>
      </p:sp>
      <p:sp>
        <p:nvSpPr>
          <p:cNvPr id="353" name="Read Rule"/>
          <p:cNvSpPr/>
          <p:nvPr/>
        </p:nvSpPr>
        <p:spPr>
          <a:xfrm>
            <a:off x="838200" y="5118100"/>
            <a:ext cx="914400" cy="31750"/>
          </a:xfrm>
          <a:prstGeom prst="rect">
            <a:avLst/>
          </a:prstGeom>
          <a:solidFill>
            <a:srgbClr val="2C6E9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5546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90A27-8DC3-3143-3F10-6EF90F474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000"/>
            <a:ext cx="7112000" cy="533400"/>
          </a:xfrm>
        </p:spPr>
        <p:txBody>
          <a:bodyPr>
            <a:normAutofit/>
          </a:bodyPr>
          <a:lstStyle/>
          <a:p>
            <a:r>
              <a:rPr lang="en-US" sz="3200" b="1" dirty="0"/>
              <a:t>Insight 04 - Channel &amp; Region</a:t>
            </a:r>
            <a:endParaRPr lang="en-US" sz="3200" b="1" dirty="0">
              <a:solidFill>
                <a:srgbClr val="12313A"/>
              </a:solidFill>
            </a:endParaRPr>
          </a:p>
        </p:txBody>
      </p:sp>
      <p:sp>
        <p:nvSpPr>
          <p:cNvPr id="302" name="Rule"/>
          <p:cNvSpPr/>
          <p:nvPr/>
        </p:nvSpPr>
        <p:spPr>
          <a:xfrm>
            <a:off x="838200" y="990600"/>
            <a:ext cx="10515600" cy="38100"/>
          </a:xfrm>
          <a:prstGeom prst="rect">
            <a:avLst/>
          </a:prstGeom>
          <a:solidFill>
            <a:srgbClr val="1F7A5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3" name="Figure Frame"/>
          <p:cNvSpPr/>
          <p:nvPr/>
        </p:nvSpPr>
        <p:spPr>
          <a:xfrm>
            <a:off x="838200" y="2133077"/>
            <a:ext cx="6807200" cy="3353845"/>
          </a:xfrm>
          <a:prstGeom prst="rect">
            <a:avLst/>
          </a:prstGeom>
          <a:solidFill>
            <a:srgbClr val="FFFFFF"/>
          </a:solidFill>
          <a:ln w="9525">
            <a:noFill/>
            <a:prstDash val="dash"/>
          </a:ln>
        </p:spPr>
        <p:txBody>
          <a:bodyPr wrap="square" anchor="ctr"/>
          <a:lstStyle/>
          <a:p>
            <a:pPr algn="ctr">
              <a:buNone/>
            </a:pPr>
            <a:r>
              <a:rPr lang="en-US" sz="1400">
                <a:solidFill>
                  <a:srgbClr val="566A70"/>
                </a:solidFill>
              </a:rPr>
              <a:t> </a:t>
            </a:r>
            <a:endParaRPr lang="en-US" sz="1400" dirty="0">
              <a:solidFill>
                <a:srgbClr val="566A70"/>
              </a:solidFill>
            </a:endParaRPr>
          </a:p>
        </p:txBody>
      </p:sp>
      <p:sp>
        <p:nvSpPr>
          <p:cNvPr id="305" name="Headline"/>
          <p:cNvSpPr/>
          <p:nvPr/>
        </p:nvSpPr>
        <p:spPr>
          <a:xfrm>
            <a:off x="7950200" y="1219200"/>
            <a:ext cx="34036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8000"/>
              </a:lnSpc>
              <a:buNone/>
            </a:pPr>
            <a:r>
              <a:rPr lang="en-US" sz="1900" b="1" dirty="0">
                <a:solidFill>
                  <a:srgbClr val="12313A"/>
                </a:solidFill>
              </a:rPr>
              <a:t>Region and channel are evenly balanced.</a:t>
            </a:r>
          </a:p>
        </p:txBody>
      </p:sp>
      <p:sp>
        <p:nvSpPr>
          <p:cNvPr id="306" name="Stat Card 1"/>
          <p:cNvSpPr/>
          <p:nvPr/>
        </p:nvSpPr>
        <p:spPr>
          <a:xfrm>
            <a:off x="7950200" y="2286000"/>
            <a:ext cx="3403600" cy="101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5E4"/>
            </a:solidFill>
          </a:ln>
        </p:spPr>
        <p:txBody>
          <a:bodyPr anchor="t"/>
          <a:lstStyle/>
          <a:p>
            <a:endParaRPr lang="en-US"/>
          </a:p>
        </p:txBody>
      </p:sp>
      <p:sp>
        <p:nvSpPr>
          <p:cNvPr id="307" name="Stat Bar 1"/>
          <p:cNvSpPr/>
          <p:nvPr/>
        </p:nvSpPr>
        <p:spPr>
          <a:xfrm>
            <a:off x="7950200" y="2286000"/>
            <a:ext cx="50800" cy="1016000"/>
          </a:xfrm>
          <a:prstGeom prst="rect">
            <a:avLst/>
          </a:prstGeom>
          <a:solidFill>
            <a:srgbClr val="1F7A5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8" name="Stat Val 1"/>
          <p:cNvSpPr/>
          <p:nvPr/>
        </p:nvSpPr>
        <p:spPr>
          <a:xfrm>
            <a:off x="8178800" y="2387600"/>
            <a:ext cx="29972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2600" b="1" dirty="0">
                <a:solidFill>
                  <a:srgbClr val="1F7A5A"/>
                </a:solidFill>
              </a:rPr>
              <a:t>1.26M</a:t>
            </a:r>
          </a:p>
        </p:txBody>
      </p:sp>
      <p:sp>
        <p:nvSpPr>
          <p:cNvPr id="309" name="Stat Lbl 1"/>
          <p:cNvSpPr/>
          <p:nvPr/>
        </p:nvSpPr>
        <p:spPr>
          <a:xfrm>
            <a:off x="8178800" y="2819400"/>
            <a:ext cx="29972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6000"/>
              </a:lnSpc>
              <a:buNone/>
            </a:pPr>
            <a:r>
              <a:rPr lang="en-US" sz="1400" dirty="0">
                <a:solidFill>
                  <a:srgbClr val="3A4E56"/>
                </a:solidFill>
              </a:rPr>
              <a:t>Units per region, volume is split almost equally</a:t>
            </a:r>
          </a:p>
        </p:txBody>
      </p:sp>
      <p:sp>
        <p:nvSpPr>
          <p:cNvPr id="310" name="Stat Card 2"/>
          <p:cNvSpPr/>
          <p:nvPr/>
        </p:nvSpPr>
        <p:spPr>
          <a:xfrm>
            <a:off x="7950200" y="3403600"/>
            <a:ext cx="3403600" cy="101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5E4"/>
            </a:solidFill>
          </a:ln>
        </p:spPr>
        <p:txBody>
          <a:bodyPr anchor="t"/>
          <a:lstStyle/>
          <a:p>
            <a:endParaRPr lang="en-US"/>
          </a:p>
        </p:txBody>
      </p:sp>
      <p:sp>
        <p:nvSpPr>
          <p:cNvPr id="311" name="Stat Bar 2"/>
          <p:cNvSpPr/>
          <p:nvPr/>
        </p:nvSpPr>
        <p:spPr>
          <a:xfrm>
            <a:off x="7950200" y="3403600"/>
            <a:ext cx="50800" cy="1016000"/>
          </a:xfrm>
          <a:prstGeom prst="rect">
            <a:avLst/>
          </a:prstGeom>
          <a:solidFill>
            <a:srgbClr val="1F7A5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2" name="Stat Val 2"/>
          <p:cNvSpPr/>
          <p:nvPr/>
        </p:nvSpPr>
        <p:spPr>
          <a:xfrm>
            <a:off x="8178800" y="3505200"/>
            <a:ext cx="29972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2600" b="1" dirty="0">
                <a:solidFill>
                  <a:srgbClr val="1F7A5A"/>
                </a:solidFill>
              </a:rPr>
              <a:t>3</a:t>
            </a:r>
          </a:p>
        </p:txBody>
      </p:sp>
      <p:sp>
        <p:nvSpPr>
          <p:cNvPr id="313" name="Stat Lbl 2"/>
          <p:cNvSpPr/>
          <p:nvPr/>
        </p:nvSpPr>
        <p:spPr>
          <a:xfrm>
            <a:off x="8178800" y="3937000"/>
            <a:ext cx="29972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6000"/>
              </a:lnSpc>
              <a:buNone/>
            </a:pPr>
            <a:r>
              <a:rPr lang="en-US" sz="1400" dirty="0">
                <a:solidFill>
                  <a:srgbClr val="3A4E56"/>
                </a:solidFill>
              </a:rPr>
              <a:t>Channels with similar volume shares</a:t>
            </a:r>
          </a:p>
        </p:txBody>
      </p:sp>
      <p:sp>
        <p:nvSpPr>
          <p:cNvPr id="314" name="Stat Card 3"/>
          <p:cNvSpPr/>
          <p:nvPr/>
        </p:nvSpPr>
        <p:spPr>
          <a:xfrm>
            <a:off x="7950200" y="4521200"/>
            <a:ext cx="3403600" cy="101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5E4"/>
            </a:solidFill>
          </a:ln>
        </p:spPr>
        <p:txBody>
          <a:bodyPr anchor="t"/>
          <a:lstStyle/>
          <a:p>
            <a:endParaRPr lang="en-US"/>
          </a:p>
        </p:txBody>
      </p:sp>
      <p:sp>
        <p:nvSpPr>
          <p:cNvPr id="315" name="Stat Bar 3"/>
          <p:cNvSpPr/>
          <p:nvPr/>
        </p:nvSpPr>
        <p:spPr>
          <a:xfrm>
            <a:off x="7950200" y="4521200"/>
            <a:ext cx="50800" cy="1016000"/>
          </a:xfrm>
          <a:prstGeom prst="rect">
            <a:avLst/>
          </a:prstGeom>
          <a:solidFill>
            <a:srgbClr val="1F7A5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6" name="Stat Val 3"/>
          <p:cNvSpPr/>
          <p:nvPr/>
        </p:nvSpPr>
        <p:spPr>
          <a:xfrm>
            <a:off x="8178800" y="4622800"/>
            <a:ext cx="29972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2600" b="1" dirty="0">
                <a:solidFill>
                  <a:srgbClr val="1F7A5A"/>
                </a:solidFill>
              </a:rPr>
              <a:t>Low</a:t>
            </a:r>
          </a:p>
        </p:txBody>
      </p:sp>
      <p:sp>
        <p:nvSpPr>
          <p:cNvPr id="317" name="Stat Lbl 3"/>
          <p:cNvSpPr/>
          <p:nvPr/>
        </p:nvSpPr>
        <p:spPr>
          <a:xfrm>
            <a:off x="8178800" y="5054600"/>
            <a:ext cx="29972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6000"/>
              </a:lnSpc>
              <a:buNone/>
            </a:pPr>
            <a:r>
              <a:rPr lang="en-US" sz="1400" dirty="0">
                <a:solidFill>
                  <a:srgbClr val="3A4E56"/>
                </a:solidFill>
              </a:rPr>
              <a:t>Geography adds little signal in this dataset</a:t>
            </a:r>
          </a:p>
        </p:txBody>
      </p:sp>
      <p:sp>
        <p:nvSpPr>
          <p:cNvPr id="318" name="Note"/>
          <p:cNvSpPr/>
          <p:nvPr/>
        </p:nvSpPr>
        <p:spPr>
          <a:xfrm>
            <a:off x="7950200" y="5689600"/>
            <a:ext cx="3403600" cy="711200"/>
          </a:xfrm>
          <a:prstGeom prst="roundRect">
            <a:avLst/>
          </a:prstGeom>
          <a:solidFill>
            <a:srgbClr val="F1F4F3"/>
          </a:solidFill>
          <a:ln>
            <a:noFill/>
          </a:ln>
        </p:spPr>
        <p:txBody>
          <a:bodyPr wrap="square" lIns="114300" tIns="68580" rIns="114300" bIns="68580" anchor="ctr"/>
          <a:lstStyle/>
          <a:p>
            <a:pPr>
              <a:lnSpc>
                <a:spcPct val="104000"/>
              </a:lnSpc>
              <a:buNone/>
            </a:pPr>
            <a:r>
              <a:rPr lang="en-US" sz="1400" dirty="0">
                <a:solidFill>
                  <a:srgbClr val="2A3C43"/>
                </a:solidFill>
              </a:rPr>
              <a:t>A dedicated region-comparison view is not warranted, </a:t>
            </a:r>
            <a:r>
              <a:rPr lang="en-US" sz="1400" dirty="0" err="1">
                <a:solidFill>
                  <a:srgbClr val="2A3C43"/>
                </a:solidFill>
              </a:rPr>
              <a:t>prioritise</a:t>
            </a:r>
            <a:r>
              <a:rPr lang="en-US" sz="1400" dirty="0">
                <a:solidFill>
                  <a:srgbClr val="2A3C43"/>
                </a:solidFill>
              </a:rPr>
              <a:t> category and promo drivers instead.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B9F400A-2486-6866-EEE3-7FF8207A39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000" y="2310877"/>
            <a:ext cx="6705600" cy="2998246"/>
          </a:xfrm>
          <a:prstGeom prst="rect">
            <a:avLst/>
          </a:prstGeom>
        </p:spPr>
      </p:pic>
      <p:sp>
        <p:nvSpPr>
          <p:cNvPr id="352" name="Read Strip"/>
          <p:cNvSpPr/>
          <p:nvPr/>
        </p:nvSpPr>
        <p:spPr>
          <a:xfrm>
            <a:off x="838200" y="5715000"/>
            <a:ext cx="68072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171450" indent="-171450">
              <a:lnSpc>
                <a:spcPct val="108000"/>
              </a:lnSpc>
              <a:spcAft>
                <a:spcPts val="400"/>
              </a:spcAft>
              <a:buFont typeface="Arial"/>
              <a:buChar char="•"/>
            </a:pPr>
            <a:r>
              <a:rPr lang="en-US" sz="1400" dirty="0">
                <a:solidFill>
                  <a:srgbClr val="2A3C43"/>
                </a:solidFill>
              </a:rPr>
              <a:t>All three regions land at about 1.26M units</a:t>
            </a:r>
          </a:p>
          <a:p>
            <a:pPr marL="171450" indent="-171450">
              <a:lnSpc>
                <a:spcPct val="108000"/>
              </a:lnSpc>
              <a:spcAft>
                <a:spcPts val="400"/>
              </a:spcAft>
              <a:buFont typeface="Arial"/>
              <a:buChar char="•"/>
            </a:pPr>
            <a:r>
              <a:rPr lang="en-US" sz="1400" dirty="0">
                <a:solidFill>
                  <a:srgbClr val="2A3C43"/>
                </a:solidFill>
              </a:rPr>
              <a:t>Discount, E-commerce and Retail split each region in similar proportions</a:t>
            </a:r>
          </a:p>
        </p:txBody>
      </p:sp>
      <p:sp>
        <p:nvSpPr>
          <p:cNvPr id="353" name="Read Rule"/>
          <p:cNvSpPr/>
          <p:nvPr/>
        </p:nvSpPr>
        <p:spPr>
          <a:xfrm>
            <a:off x="838200" y="5562600"/>
            <a:ext cx="914400" cy="31750"/>
          </a:xfrm>
          <a:prstGeom prst="rect">
            <a:avLst/>
          </a:prstGeom>
          <a:solidFill>
            <a:srgbClr val="1F7A5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0869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90A27-8DC3-3143-3F10-6EF90F474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000"/>
            <a:ext cx="7112000" cy="533400"/>
          </a:xfrm>
        </p:spPr>
        <p:txBody>
          <a:bodyPr/>
          <a:lstStyle/>
          <a:p>
            <a:r>
              <a:rPr lang="en-US" sz="3200" b="1" dirty="0"/>
              <a:t>Insight 05 - Promotion</a:t>
            </a:r>
            <a:endParaRPr lang="en-US" sz="3200" b="1" dirty="0">
              <a:solidFill>
                <a:srgbClr val="12313A"/>
              </a:solidFill>
            </a:endParaRPr>
          </a:p>
        </p:txBody>
      </p:sp>
      <p:sp>
        <p:nvSpPr>
          <p:cNvPr id="302" name="Rule"/>
          <p:cNvSpPr/>
          <p:nvPr/>
        </p:nvSpPr>
        <p:spPr>
          <a:xfrm>
            <a:off x="838200" y="990600"/>
            <a:ext cx="10515600" cy="38100"/>
          </a:xfrm>
          <a:prstGeom prst="rect">
            <a:avLst/>
          </a:prstGeom>
          <a:solidFill>
            <a:srgbClr val="C0492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3" name="Figure Frame"/>
          <p:cNvSpPr/>
          <p:nvPr/>
        </p:nvSpPr>
        <p:spPr>
          <a:xfrm>
            <a:off x="838200" y="2133077"/>
            <a:ext cx="6807200" cy="3353845"/>
          </a:xfrm>
          <a:prstGeom prst="rect">
            <a:avLst/>
          </a:prstGeom>
          <a:solidFill>
            <a:srgbClr val="FFFFFF"/>
          </a:solidFill>
          <a:ln w="9525">
            <a:noFill/>
            <a:prstDash val="dash"/>
          </a:ln>
        </p:spPr>
        <p:txBody>
          <a:bodyPr wrap="square" anchor="ctr"/>
          <a:lstStyle/>
          <a:p>
            <a:pPr algn="ctr">
              <a:buNone/>
            </a:pPr>
            <a:r>
              <a:rPr lang="en-US" sz="1400">
                <a:solidFill>
                  <a:srgbClr val="566A70"/>
                </a:solidFill>
              </a:rPr>
              <a:t> </a:t>
            </a:r>
            <a:endParaRPr lang="en-US" sz="1400" dirty="0">
              <a:solidFill>
                <a:srgbClr val="566A70"/>
              </a:solidFill>
            </a:endParaRPr>
          </a:p>
        </p:txBody>
      </p:sp>
      <p:sp>
        <p:nvSpPr>
          <p:cNvPr id="305" name="Headline"/>
          <p:cNvSpPr/>
          <p:nvPr/>
        </p:nvSpPr>
        <p:spPr>
          <a:xfrm>
            <a:off x="7950200" y="1219200"/>
            <a:ext cx="34036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8000"/>
              </a:lnSpc>
              <a:buNone/>
            </a:pPr>
            <a:r>
              <a:rPr lang="en-US" sz="1900" b="1" dirty="0">
                <a:solidFill>
                  <a:srgbClr val="12313A"/>
                </a:solidFill>
              </a:rPr>
              <a:t>Promotions roughly double volume, consistently across categories.</a:t>
            </a:r>
          </a:p>
        </p:txBody>
      </p:sp>
      <p:sp>
        <p:nvSpPr>
          <p:cNvPr id="306" name="Stat Card 1"/>
          <p:cNvSpPr/>
          <p:nvPr/>
        </p:nvSpPr>
        <p:spPr>
          <a:xfrm>
            <a:off x="7950200" y="2286000"/>
            <a:ext cx="3403600" cy="101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5E4"/>
            </a:solidFill>
          </a:ln>
        </p:spPr>
        <p:txBody>
          <a:bodyPr anchor="t"/>
          <a:lstStyle/>
          <a:p>
            <a:endParaRPr lang="en-US"/>
          </a:p>
        </p:txBody>
      </p:sp>
      <p:sp>
        <p:nvSpPr>
          <p:cNvPr id="307" name="Stat Bar 1"/>
          <p:cNvSpPr/>
          <p:nvPr/>
        </p:nvSpPr>
        <p:spPr>
          <a:xfrm>
            <a:off x="7950200" y="2286000"/>
            <a:ext cx="50800" cy="1016000"/>
          </a:xfrm>
          <a:prstGeom prst="rect">
            <a:avLst/>
          </a:prstGeom>
          <a:solidFill>
            <a:srgbClr val="C0492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8" name="Stat Val 1"/>
          <p:cNvSpPr/>
          <p:nvPr/>
        </p:nvSpPr>
        <p:spPr>
          <a:xfrm>
            <a:off x="8178800" y="2387600"/>
            <a:ext cx="29972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2600" b="1" dirty="0">
                <a:solidFill>
                  <a:srgbClr val="C0492F"/>
                </a:solidFill>
              </a:rPr>
              <a:t>+95.3%</a:t>
            </a:r>
          </a:p>
        </p:txBody>
      </p:sp>
      <p:sp>
        <p:nvSpPr>
          <p:cNvPr id="309" name="Stat Lbl 1"/>
          <p:cNvSpPr/>
          <p:nvPr/>
        </p:nvSpPr>
        <p:spPr>
          <a:xfrm>
            <a:off x="8178800" y="2819400"/>
            <a:ext cx="29972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6000"/>
              </a:lnSpc>
              <a:buNone/>
            </a:pPr>
            <a:r>
              <a:rPr lang="en-US" sz="1400" dirty="0">
                <a:solidFill>
                  <a:srgbClr val="3A4E56"/>
                </a:solidFill>
              </a:rPr>
              <a:t>Overall volume uplift on promoted rows</a:t>
            </a:r>
          </a:p>
        </p:txBody>
      </p:sp>
      <p:sp>
        <p:nvSpPr>
          <p:cNvPr id="310" name="Stat Card 2"/>
          <p:cNvSpPr/>
          <p:nvPr/>
        </p:nvSpPr>
        <p:spPr>
          <a:xfrm>
            <a:off x="7950200" y="3403600"/>
            <a:ext cx="3403600" cy="101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5E4"/>
            </a:solidFill>
          </a:ln>
        </p:spPr>
        <p:txBody>
          <a:bodyPr anchor="t"/>
          <a:lstStyle/>
          <a:p>
            <a:endParaRPr lang="en-US"/>
          </a:p>
        </p:txBody>
      </p:sp>
      <p:sp>
        <p:nvSpPr>
          <p:cNvPr id="311" name="Stat Bar 2"/>
          <p:cNvSpPr/>
          <p:nvPr/>
        </p:nvSpPr>
        <p:spPr>
          <a:xfrm>
            <a:off x="7950200" y="3403600"/>
            <a:ext cx="50800" cy="1016000"/>
          </a:xfrm>
          <a:prstGeom prst="rect">
            <a:avLst/>
          </a:prstGeom>
          <a:solidFill>
            <a:srgbClr val="C0492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2" name="Stat Val 2"/>
          <p:cNvSpPr/>
          <p:nvPr/>
        </p:nvSpPr>
        <p:spPr>
          <a:xfrm>
            <a:off x="8178800" y="3505200"/>
            <a:ext cx="29972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2600" b="1" dirty="0">
                <a:solidFill>
                  <a:srgbClr val="C0492F"/>
                </a:solidFill>
              </a:rPr>
              <a:t>14.9%</a:t>
            </a:r>
          </a:p>
        </p:txBody>
      </p:sp>
      <p:sp>
        <p:nvSpPr>
          <p:cNvPr id="313" name="Stat Lbl 2"/>
          <p:cNvSpPr/>
          <p:nvPr/>
        </p:nvSpPr>
        <p:spPr>
          <a:xfrm>
            <a:off x="8178800" y="3937000"/>
            <a:ext cx="29972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6000"/>
              </a:lnSpc>
              <a:buNone/>
            </a:pPr>
            <a:r>
              <a:rPr lang="en-US" sz="1400" dirty="0">
                <a:solidFill>
                  <a:srgbClr val="3A4E56"/>
                </a:solidFill>
              </a:rPr>
              <a:t>Share of rows that are promoted</a:t>
            </a:r>
          </a:p>
        </p:txBody>
      </p:sp>
      <p:sp>
        <p:nvSpPr>
          <p:cNvPr id="314" name="Stat Card 3"/>
          <p:cNvSpPr/>
          <p:nvPr/>
        </p:nvSpPr>
        <p:spPr>
          <a:xfrm>
            <a:off x="7950200" y="4521200"/>
            <a:ext cx="3403600" cy="101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5E4"/>
            </a:solidFill>
          </a:ln>
        </p:spPr>
        <p:txBody>
          <a:bodyPr anchor="t"/>
          <a:lstStyle/>
          <a:p>
            <a:endParaRPr lang="en-US"/>
          </a:p>
        </p:txBody>
      </p:sp>
      <p:sp>
        <p:nvSpPr>
          <p:cNvPr id="315" name="Stat Bar 3"/>
          <p:cNvSpPr/>
          <p:nvPr/>
        </p:nvSpPr>
        <p:spPr>
          <a:xfrm>
            <a:off x="7950200" y="4521200"/>
            <a:ext cx="50800" cy="1016000"/>
          </a:xfrm>
          <a:prstGeom prst="rect">
            <a:avLst/>
          </a:prstGeom>
          <a:solidFill>
            <a:srgbClr val="C0492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6" name="Stat Val 3"/>
          <p:cNvSpPr/>
          <p:nvPr/>
        </p:nvSpPr>
        <p:spPr>
          <a:xfrm>
            <a:off x="8178800" y="4622800"/>
            <a:ext cx="29972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2600" b="1" dirty="0">
                <a:solidFill>
                  <a:srgbClr val="C0492F"/>
                </a:solidFill>
              </a:rPr>
              <a:t>93–97%</a:t>
            </a:r>
          </a:p>
        </p:txBody>
      </p:sp>
      <p:sp>
        <p:nvSpPr>
          <p:cNvPr id="317" name="Stat Lbl 3"/>
          <p:cNvSpPr/>
          <p:nvPr/>
        </p:nvSpPr>
        <p:spPr>
          <a:xfrm>
            <a:off x="8178800" y="5054600"/>
            <a:ext cx="29972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6000"/>
              </a:lnSpc>
              <a:buNone/>
            </a:pPr>
            <a:r>
              <a:rPr lang="en-US" sz="1400" dirty="0">
                <a:solidFill>
                  <a:srgbClr val="3A4E56"/>
                </a:solidFill>
              </a:rPr>
              <a:t>Uplift range across all 5 categories</a:t>
            </a:r>
          </a:p>
        </p:txBody>
      </p:sp>
      <p:sp>
        <p:nvSpPr>
          <p:cNvPr id="318" name="Note"/>
          <p:cNvSpPr/>
          <p:nvPr/>
        </p:nvSpPr>
        <p:spPr>
          <a:xfrm>
            <a:off x="7950200" y="5613400"/>
            <a:ext cx="3403600" cy="787400"/>
          </a:xfrm>
          <a:prstGeom prst="roundRect">
            <a:avLst/>
          </a:prstGeom>
          <a:solidFill>
            <a:srgbClr val="F1F4F3"/>
          </a:solidFill>
          <a:ln>
            <a:noFill/>
          </a:ln>
        </p:spPr>
        <p:txBody>
          <a:bodyPr wrap="square" lIns="114300" tIns="68580" rIns="114300" bIns="68580" anchor="ctr"/>
          <a:lstStyle/>
          <a:p>
            <a:pPr>
              <a:lnSpc>
                <a:spcPct val="104000"/>
              </a:lnSpc>
              <a:buNone/>
            </a:pPr>
            <a:r>
              <a:rPr lang="en-US" sz="1400" dirty="0">
                <a:solidFill>
                  <a:srgbClr val="2A3C43"/>
                </a:solidFill>
              </a:rPr>
              <a:t>Validate against real promo-cost and margin data.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69F9D03-4B66-EF85-B669-29EC5F7B9F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000" y="2310877"/>
            <a:ext cx="6705600" cy="2998246"/>
          </a:xfrm>
          <a:prstGeom prst="rect">
            <a:avLst/>
          </a:prstGeom>
        </p:spPr>
      </p:pic>
      <p:sp>
        <p:nvSpPr>
          <p:cNvPr id="352" name="Read Strip"/>
          <p:cNvSpPr/>
          <p:nvPr/>
        </p:nvSpPr>
        <p:spPr>
          <a:xfrm>
            <a:off x="838200" y="5715000"/>
            <a:ext cx="68072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171450" indent="-171450">
              <a:lnSpc>
                <a:spcPct val="108000"/>
              </a:lnSpc>
              <a:spcAft>
                <a:spcPts val="400"/>
              </a:spcAft>
              <a:buFont typeface="Arial"/>
              <a:buChar char="•"/>
            </a:pPr>
            <a:r>
              <a:rPr lang="en-US" sz="1400" dirty="0">
                <a:solidFill>
                  <a:srgbClr val="2A3C43"/>
                </a:solidFill>
              </a:rPr>
              <a:t>Uplift sits in a narrow 93–97% band across all five categories</a:t>
            </a:r>
          </a:p>
          <a:p>
            <a:pPr marL="171450" indent="-171450">
              <a:lnSpc>
                <a:spcPct val="108000"/>
              </a:lnSpc>
              <a:spcAft>
                <a:spcPts val="400"/>
              </a:spcAft>
              <a:buFont typeface="Arial"/>
              <a:buChar char="•"/>
            </a:pPr>
            <a:r>
              <a:rPr lang="en-US" sz="1400" dirty="0">
                <a:solidFill>
                  <a:srgbClr val="2A3C43"/>
                </a:solidFill>
              </a:rPr>
              <a:t>SnackBar is highest at 97%, Juice lowest at 93%</a:t>
            </a:r>
          </a:p>
        </p:txBody>
      </p:sp>
      <p:sp>
        <p:nvSpPr>
          <p:cNvPr id="353" name="Read Rule"/>
          <p:cNvSpPr/>
          <p:nvPr/>
        </p:nvSpPr>
        <p:spPr>
          <a:xfrm>
            <a:off x="838200" y="5562600"/>
            <a:ext cx="914400" cy="31750"/>
          </a:xfrm>
          <a:prstGeom prst="rect">
            <a:avLst/>
          </a:prstGeom>
          <a:solidFill>
            <a:srgbClr val="C0492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1078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90A27-8DC3-3143-3F10-6EF90F474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000"/>
            <a:ext cx="7112000" cy="533400"/>
          </a:xfrm>
        </p:spPr>
        <p:txBody>
          <a:bodyPr/>
          <a:lstStyle/>
          <a:p>
            <a:r>
              <a:rPr lang="en-US" sz="3200" b="1" dirty="0"/>
              <a:t>Insight 06 - Stock-out</a:t>
            </a:r>
            <a:endParaRPr lang="en-US" sz="3200" b="1" dirty="0">
              <a:solidFill>
                <a:srgbClr val="12313A"/>
              </a:solidFill>
            </a:endParaRPr>
          </a:p>
        </p:txBody>
      </p:sp>
      <p:sp>
        <p:nvSpPr>
          <p:cNvPr id="302" name="Rule"/>
          <p:cNvSpPr/>
          <p:nvPr/>
        </p:nvSpPr>
        <p:spPr>
          <a:xfrm>
            <a:off x="838200" y="990600"/>
            <a:ext cx="10515600" cy="38100"/>
          </a:xfrm>
          <a:prstGeom prst="rect">
            <a:avLst/>
          </a:prstGeom>
          <a:solidFill>
            <a:srgbClr val="4A5C6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3" name="Figure Frame"/>
          <p:cNvSpPr/>
          <p:nvPr/>
        </p:nvSpPr>
        <p:spPr>
          <a:xfrm>
            <a:off x="838200" y="2128809"/>
            <a:ext cx="6807200" cy="3362381"/>
          </a:xfrm>
          <a:prstGeom prst="rect">
            <a:avLst/>
          </a:prstGeom>
          <a:solidFill>
            <a:srgbClr val="FFFFFF"/>
          </a:solidFill>
          <a:ln w="9525">
            <a:noFill/>
            <a:prstDash val="dash"/>
          </a:ln>
        </p:spPr>
        <p:txBody>
          <a:bodyPr wrap="square" anchor="ctr"/>
          <a:lstStyle/>
          <a:p>
            <a:pPr algn="ctr">
              <a:buNone/>
            </a:pPr>
            <a:r>
              <a:rPr lang="en-US" sz="1400">
                <a:solidFill>
                  <a:srgbClr val="566A70"/>
                </a:solidFill>
              </a:rPr>
              <a:t> </a:t>
            </a:r>
            <a:endParaRPr lang="en-US" sz="1400" dirty="0">
              <a:solidFill>
                <a:srgbClr val="566A70"/>
              </a:solidFill>
            </a:endParaRPr>
          </a:p>
        </p:txBody>
      </p:sp>
      <p:sp>
        <p:nvSpPr>
          <p:cNvPr id="305" name="Headline"/>
          <p:cNvSpPr/>
          <p:nvPr/>
        </p:nvSpPr>
        <p:spPr>
          <a:xfrm>
            <a:off x="7950200" y="1219200"/>
            <a:ext cx="34036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8000"/>
              </a:lnSpc>
              <a:buNone/>
            </a:pPr>
            <a:r>
              <a:rPr lang="en-US" sz="1900" b="1" dirty="0">
                <a:solidFill>
                  <a:srgbClr val="12313A"/>
                </a:solidFill>
              </a:rPr>
              <a:t>Availability is healthy and stable , no upward stock-out trend.</a:t>
            </a:r>
          </a:p>
        </p:txBody>
      </p:sp>
      <p:sp>
        <p:nvSpPr>
          <p:cNvPr id="306" name="Stat Card 1"/>
          <p:cNvSpPr/>
          <p:nvPr/>
        </p:nvSpPr>
        <p:spPr>
          <a:xfrm>
            <a:off x="7950200" y="2286000"/>
            <a:ext cx="3403600" cy="101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5E4"/>
            </a:solidFill>
          </a:ln>
        </p:spPr>
        <p:txBody>
          <a:bodyPr anchor="t"/>
          <a:lstStyle/>
          <a:p>
            <a:endParaRPr lang="en-US"/>
          </a:p>
        </p:txBody>
      </p:sp>
      <p:sp>
        <p:nvSpPr>
          <p:cNvPr id="307" name="Stat Bar 1"/>
          <p:cNvSpPr/>
          <p:nvPr/>
        </p:nvSpPr>
        <p:spPr>
          <a:xfrm>
            <a:off x="7950200" y="2286000"/>
            <a:ext cx="50800" cy="1016000"/>
          </a:xfrm>
          <a:prstGeom prst="rect">
            <a:avLst/>
          </a:prstGeom>
          <a:solidFill>
            <a:srgbClr val="4A5C6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8" name="Stat Val 1"/>
          <p:cNvSpPr/>
          <p:nvPr/>
        </p:nvSpPr>
        <p:spPr>
          <a:xfrm>
            <a:off x="8178800" y="2387600"/>
            <a:ext cx="29972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2600" b="1" dirty="0">
                <a:solidFill>
                  <a:srgbClr val="4A5C63"/>
                </a:solidFill>
              </a:rPr>
              <a:t>2.0%</a:t>
            </a:r>
          </a:p>
        </p:txBody>
      </p:sp>
      <p:sp>
        <p:nvSpPr>
          <p:cNvPr id="309" name="Stat Lbl 1"/>
          <p:cNvSpPr/>
          <p:nvPr/>
        </p:nvSpPr>
        <p:spPr>
          <a:xfrm>
            <a:off x="8178800" y="2819400"/>
            <a:ext cx="29972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6000"/>
              </a:lnSpc>
              <a:buNone/>
            </a:pPr>
            <a:r>
              <a:rPr lang="en-US" sz="1400" dirty="0">
                <a:solidFill>
                  <a:srgbClr val="3A4E56"/>
                </a:solidFill>
              </a:rPr>
              <a:t>Stock-out rate overall, flat over time</a:t>
            </a:r>
          </a:p>
        </p:txBody>
      </p:sp>
      <p:sp>
        <p:nvSpPr>
          <p:cNvPr id="310" name="Stat Card 2"/>
          <p:cNvSpPr/>
          <p:nvPr/>
        </p:nvSpPr>
        <p:spPr>
          <a:xfrm>
            <a:off x="7950200" y="3403600"/>
            <a:ext cx="3403600" cy="101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5E4"/>
            </a:solidFill>
          </a:ln>
        </p:spPr>
        <p:txBody>
          <a:bodyPr anchor="t"/>
          <a:lstStyle/>
          <a:p>
            <a:endParaRPr lang="en-US"/>
          </a:p>
        </p:txBody>
      </p:sp>
      <p:sp>
        <p:nvSpPr>
          <p:cNvPr id="311" name="Stat Bar 2"/>
          <p:cNvSpPr/>
          <p:nvPr/>
        </p:nvSpPr>
        <p:spPr>
          <a:xfrm>
            <a:off x="7950200" y="3403600"/>
            <a:ext cx="50800" cy="1016000"/>
          </a:xfrm>
          <a:prstGeom prst="rect">
            <a:avLst/>
          </a:prstGeom>
          <a:solidFill>
            <a:srgbClr val="4A5C6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2" name="Stat Val 2"/>
          <p:cNvSpPr/>
          <p:nvPr/>
        </p:nvSpPr>
        <p:spPr>
          <a:xfrm>
            <a:off x="8178800" y="3505200"/>
            <a:ext cx="29972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2600" b="1" dirty="0">
                <a:solidFill>
                  <a:srgbClr val="4A5C63"/>
                </a:solidFill>
              </a:rPr>
              <a:t>Nearly all</a:t>
            </a:r>
          </a:p>
        </p:txBody>
      </p:sp>
      <p:sp>
        <p:nvSpPr>
          <p:cNvPr id="313" name="Stat Lbl 2"/>
          <p:cNvSpPr/>
          <p:nvPr/>
        </p:nvSpPr>
        <p:spPr>
          <a:xfrm>
            <a:off x="8178800" y="3937000"/>
            <a:ext cx="29972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6000"/>
              </a:lnSpc>
              <a:buNone/>
            </a:pPr>
            <a:r>
              <a:rPr lang="en-US" sz="1400" dirty="0">
                <a:solidFill>
                  <a:srgbClr val="3A4E56"/>
                </a:solidFill>
              </a:rPr>
              <a:t>Zero-sales rows occur when stock_available = 0</a:t>
            </a:r>
          </a:p>
        </p:txBody>
      </p:sp>
      <p:sp>
        <p:nvSpPr>
          <p:cNvPr id="314" name="Stat Card 3"/>
          <p:cNvSpPr/>
          <p:nvPr/>
        </p:nvSpPr>
        <p:spPr>
          <a:xfrm>
            <a:off x="7950200" y="4521200"/>
            <a:ext cx="3403600" cy="101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5E4"/>
            </a:solidFill>
          </a:ln>
        </p:spPr>
        <p:txBody>
          <a:bodyPr anchor="t"/>
          <a:lstStyle/>
          <a:p>
            <a:endParaRPr lang="en-US"/>
          </a:p>
        </p:txBody>
      </p:sp>
      <p:sp>
        <p:nvSpPr>
          <p:cNvPr id="315" name="Stat Bar 3"/>
          <p:cNvSpPr/>
          <p:nvPr/>
        </p:nvSpPr>
        <p:spPr>
          <a:xfrm>
            <a:off x="7950200" y="4521200"/>
            <a:ext cx="50800" cy="1016000"/>
          </a:xfrm>
          <a:prstGeom prst="rect">
            <a:avLst/>
          </a:prstGeom>
          <a:solidFill>
            <a:srgbClr val="4A5C6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6" name="Stat Val 3"/>
          <p:cNvSpPr/>
          <p:nvPr/>
        </p:nvSpPr>
        <p:spPr>
          <a:xfrm>
            <a:off x="8178800" y="4622800"/>
            <a:ext cx="29972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2600" b="1" dirty="0">
                <a:solidFill>
                  <a:srgbClr val="4A5C63"/>
                </a:solidFill>
              </a:rPr>
              <a:t>No trend</a:t>
            </a:r>
          </a:p>
        </p:txBody>
      </p:sp>
      <p:sp>
        <p:nvSpPr>
          <p:cNvPr id="317" name="Stat Lbl 3"/>
          <p:cNvSpPr/>
          <p:nvPr/>
        </p:nvSpPr>
        <p:spPr>
          <a:xfrm>
            <a:off x="8178800" y="5054600"/>
            <a:ext cx="29972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6000"/>
              </a:lnSpc>
              <a:buNone/>
            </a:pPr>
            <a:r>
              <a:rPr lang="en-US" sz="1400" dirty="0">
                <a:solidFill>
                  <a:srgbClr val="3A4E56"/>
                </a:solidFill>
              </a:rPr>
              <a:t>Rate is stable across dimensions and periods</a:t>
            </a:r>
          </a:p>
        </p:txBody>
      </p:sp>
      <p:sp>
        <p:nvSpPr>
          <p:cNvPr id="318" name="Note"/>
          <p:cNvSpPr/>
          <p:nvPr/>
        </p:nvSpPr>
        <p:spPr>
          <a:xfrm>
            <a:off x="7950200" y="5613400"/>
            <a:ext cx="3403600" cy="787400"/>
          </a:xfrm>
          <a:prstGeom prst="roundRect">
            <a:avLst/>
          </a:prstGeom>
          <a:solidFill>
            <a:srgbClr val="F1F4F3"/>
          </a:solidFill>
          <a:ln>
            <a:noFill/>
          </a:ln>
        </p:spPr>
        <p:txBody>
          <a:bodyPr wrap="square" lIns="114300" tIns="68580" rIns="114300" bIns="68580" anchor="ctr"/>
          <a:lstStyle/>
          <a:p>
            <a:pPr>
              <a:lnSpc>
                <a:spcPct val="104000"/>
              </a:lnSpc>
              <a:buNone/>
            </a:pPr>
            <a:r>
              <a:rPr lang="en-US" sz="1400" dirty="0">
                <a:solidFill>
                  <a:srgbClr val="2A3C43"/>
                </a:solidFill>
              </a:rPr>
              <a:t>Availability is not the binding constraint, lost-sales upside is capped at the 2% out-of-stock rows.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4DFCFD2-4C9C-7522-FF37-389D3C6ADF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000" y="2306609"/>
            <a:ext cx="6705600" cy="3006782"/>
          </a:xfrm>
          <a:prstGeom prst="rect">
            <a:avLst/>
          </a:prstGeom>
        </p:spPr>
      </p:pic>
      <p:sp>
        <p:nvSpPr>
          <p:cNvPr id="352" name="Read Strip"/>
          <p:cNvSpPr/>
          <p:nvPr/>
        </p:nvSpPr>
        <p:spPr>
          <a:xfrm>
            <a:off x="838200" y="5715000"/>
            <a:ext cx="68072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171450" indent="-171450">
              <a:lnSpc>
                <a:spcPct val="108000"/>
              </a:lnSpc>
              <a:spcAft>
                <a:spcPts val="400"/>
              </a:spcAft>
              <a:buFont typeface="Arial"/>
              <a:buChar char="•"/>
            </a:pPr>
            <a:r>
              <a:rPr lang="en-US" sz="1400" dirty="0">
                <a:solidFill>
                  <a:srgbClr val="2A3C43"/>
                </a:solidFill>
              </a:rPr>
              <a:t>Monthly rate oscillates in a 1.6–2.6% range with no upward drift</a:t>
            </a:r>
          </a:p>
          <a:p>
            <a:pPr marL="171450" indent="-171450">
              <a:lnSpc>
                <a:spcPct val="108000"/>
              </a:lnSpc>
              <a:spcAft>
                <a:spcPts val="400"/>
              </a:spcAft>
              <a:buFont typeface="Arial"/>
              <a:buChar char="•"/>
            </a:pPr>
            <a:r>
              <a:rPr lang="en-US" sz="1400" dirty="0">
                <a:solidFill>
                  <a:srgbClr val="2A3C43"/>
                </a:solidFill>
              </a:rPr>
              <a:t>Spikes read as noise, not deterioration, availability is under control</a:t>
            </a:r>
          </a:p>
        </p:txBody>
      </p:sp>
      <p:sp>
        <p:nvSpPr>
          <p:cNvPr id="353" name="Read Rule"/>
          <p:cNvSpPr/>
          <p:nvPr/>
        </p:nvSpPr>
        <p:spPr>
          <a:xfrm>
            <a:off x="838200" y="5562600"/>
            <a:ext cx="914400" cy="31750"/>
          </a:xfrm>
          <a:prstGeom prst="rect">
            <a:avLst/>
          </a:prstGeom>
          <a:solidFill>
            <a:srgbClr val="4A5C6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2864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505A2-7F63-EDB8-F8F5-F97237505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000"/>
            <a:ext cx="7620000" cy="533400"/>
          </a:xfrm>
        </p:spPr>
        <p:txBody>
          <a:bodyPr>
            <a:normAutofit fontScale="90000"/>
          </a:bodyPr>
          <a:lstStyle/>
          <a:p>
            <a:pPr algn="l">
              <a:buNone/>
            </a:pPr>
            <a:r>
              <a:rPr lang="en-US" sz="3400" b="1" dirty="0">
                <a:solidFill>
                  <a:srgbClr val="12313A"/>
                </a:solidFill>
              </a:rPr>
              <a:t>Recommendations</a:t>
            </a:r>
          </a:p>
        </p:txBody>
      </p:sp>
      <p:sp>
        <p:nvSpPr>
          <p:cNvPr id="401" name="Rule"/>
          <p:cNvSpPr/>
          <p:nvPr/>
        </p:nvSpPr>
        <p:spPr>
          <a:xfrm>
            <a:off x="838200" y="990600"/>
            <a:ext cx="10515600" cy="3810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02" name="Rec Card 1"/>
          <p:cNvSpPr/>
          <p:nvPr/>
        </p:nvSpPr>
        <p:spPr>
          <a:xfrm>
            <a:off x="838200" y="1244600"/>
            <a:ext cx="10515600" cy="965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5E4"/>
            </a:solidFill>
          </a:ln>
        </p:spPr>
        <p:txBody>
          <a:bodyPr anchor="t"/>
          <a:lstStyle/>
          <a:p>
            <a:endParaRPr lang="en-US"/>
          </a:p>
        </p:txBody>
      </p:sp>
      <p:sp>
        <p:nvSpPr>
          <p:cNvPr id="403" name="Rec Bar 1"/>
          <p:cNvSpPr/>
          <p:nvPr/>
        </p:nvSpPr>
        <p:spPr>
          <a:xfrm>
            <a:off x="838200" y="1244600"/>
            <a:ext cx="50800" cy="96520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04" name="Rec Num 1"/>
          <p:cNvSpPr/>
          <p:nvPr/>
        </p:nvSpPr>
        <p:spPr>
          <a:xfrm>
            <a:off x="1066800" y="1511300"/>
            <a:ext cx="431800" cy="431800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05" name="Rec Head 1"/>
          <p:cNvSpPr/>
          <p:nvPr/>
        </p:nvSpPr>
        <p:spPr>
          <a:xfrm>
            <a:off x="1701800" y="1397000"/>
            <a:ext cx="9499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1800" b="1" dirty="0">
                <a:solidFill>
                  <a:srgbClr val="0E7C7B"/>
                </a:solidFill>
              </a:rPr>
              <a:t>Plan supply to the summer peak</a:t>
            </a:r>
          </a:p>
        </p:txBody>
      </p:sp>
      <p:sp>
        <p:nvSpPr>
          <p:cNvPr id="406" name="Rec Body 1"/>
          <p:cNvSpPr/>
          <p:nvPr/>
        </p:nvSpPr>
        <p:spPr>
          <a:xfrm>
            <a:off x="1701800" y="1752600"/>
            <a:ext cx="94996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6000"/>
              </a:lnSpc>
              <a:buNone/>
            </a:pPr>
            <a:r>
              <a:rPr lang="en-US" sz="1400" dirty="0">
                <a:solidFill>
                  <a:srgbClr val="2A3C43"/>
                </a:solidFill>
              </a:rPr>
              <a:t>The 40% Jun–Jul swing is the dominant planning signal, build inventory ahead of Q2-end.</a:t>
            </a:r>
          </a:p>
        </p:txBody>
      </p:sp>
      <p:sp>
        <p:nvSpPr>
          <p:cNvPr id="407" name="Rec Card 2"/>
          <p:cNvSpPr/>
          <p:nvPr/>
        </p:nvSpPr>
        <p:spPr>
          <a:xfrm>
            <a:off x="838200" y="2286000"/>
            <a:ext cx="10515600" cy="965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5E4"/>
            </a:solidFill>
          </a:ln>
        </p:spPr>
        <p:txBody>
          <a:bodyPr anchor="t"/>
          <a:lstStyle/>
          <a:p>
            <a:endParaRPr lang="en-US"/>
          </a:p>
        </p:txBody>
      </p:sp>
      <p:sp>
        <p:nvSpPr>
          <p:cNvPr id="408" name="Rec Bar 2"/>
          <p:cNvSpPr/>
          <p:nvPr/>
        </p:nvSpPr>
        <p:spPr>
          <a:xfrm>
            <a:off x="838200" y="2286000"/>
            <a:ext cx="50800" cy="965200"/>
          </a:xfrm>
          <a:prstGeom prst="rect">
            <a:avLst/>
          </a:prstGeom>
          <a:solidFill>
            <a:srgbClr val="2C6E9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09" name="Rec Num 2"/>
          <p:cNvSpPr/>
          <p:nvPr/>
        </p:nvSpPr>
        <p:spPr>
          <a:xfrm>
            <a:off x="1066800" y="2552700"/>
            <a:ext cx="431800" cy="431800"/>
          </a:xfrm>
          <a:prstGeom prst="ellipse">
            <a:avLst/>
          </a:prstGeom>
          <a:solidFill>
            <a:srgbClr val="2C6E9B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410" name="Rec Head 2"/>
          <p:cNvSpPr/>
          <p:nvPr/>
        </p:nvSpPr>
        <p:spPr>
          <a:xfrm>
            <a:off x="1701800" y="2438400"/>
            <a:ext cx="9499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1800" b="1" dirty="0" err="1">
                <a:solidFill>
                  <a:srgbClr val="2C6E9B"/>
                </a:solidFill>
              </a:rPr>
              <a:t>Forcus</a:t>
            </a:r>
            <a:r>
              <a:rPr lang="en-US" sz="1800" b="1" dirty="0">
                <a:solidFill>
                  <a:srgbClr val="2C6E9B"/>
                </a:solidFill>
              </a:rPr>
              <a:t> S&amp;OP on the core 23 SKUs</a:t>
            </a:r>
          </a:p>
        </p:txBody>
      </p:sp>
      <p:sp>
        <p:nvSpPr>
          <p:cNvPr id="411" name="Rec Body 2"/>
          <p:cNvSpPr/>
          <p:nvPr/>
        </p:nvSpPr>
        <p:spPr>
          <a:xfrm>
            <a:off x="1701800" y="2794000"/>
            <a:ext cx="94996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6000"/>
              </a:lnSpc>
              <a:buNone/>
            </a:pPr>
            <a:r>
              <a:rPr lang="en-US" sz="1400" dirty="0">
                <a:solidFill>
                  <a:srgbClr val="2A3C43"/>
                </a:solidFill>
              </a:rPr>
              <a:t>They carry 80% of volume, Yogurt first. Review the 7 tail SKUs for rationalisation or targeted support.</a:t>
            </a:r>
          </a:p>
        </p:txBody>
      </p:sp>
      <p:sp>
        <p:nvSpPr>
          <p:cNvPr id="412" name="Rec Card 3"/>
          <p:cNvSpPr/>
          <p:nvPr/>
        </p:nvSpPr>
        <p:spPr>
          <a:xfrm>
            <a:off x="838200" y="3327400"/>
            <a:ext cx="10515600" cy="965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5E4"/>
            </a:solidFill>
          </a:ln>
        </p:spPr>
        <p:txBody>
          <a:bodyPr anchor="t"/>
          <a:lstStyle/>
          <a:p>
            <a:endParaRPr lang="en-US"/>
          </a:p>
        </p:txBody>
      </p:sp>
      <p:sp>
        <p:nvSpPr>
          <p:cNvPr id="413" name="Rec Bar 3"/>
          <p:cNvSpPr/>
          <p:nvPr/>
        </p:nvSpPr>
        <p:spPr>
          <a:xfrm>
            <a:off x="838200" y="3327400"/>
            <a:ext cx="50800" cy="965200"/>
          </a:xfrm>
          <a:prstGeom prst="rect">
            <a:avLst/>
          </a:prstGeom>
          <a:solidFill>
            <a:srgbClr val="E883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14" name="Rec Num 3"/>
          <p:cNvSpPr/>
          <p:nvPr/>
        </p:nvSpPr>
        <p:spPr>
          <a:xfrm>
            <a:off x="1066800" y="3594100"/>
            <a:ext cx="431800" cy="431800"/>
          </a:xfrm>
          <a:prstGeom prst="ellipse">
            <a:avLst/>
          </a:prstGeom>
          <a:solidFill>
            <a:srgbClr val="E8833A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15" name="Rec Head 3"/>
          <p:cNvSpPr/>
          <p:nvPr/>
        </p:nvSpPr>
        <p:spPr>
          <a:xfrm>
            <a:off x="1701800" y="3479800"/>
            <a:ext cx="9499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1800" b="1" dirty="0">
                <a:solidFill>
                  <a:srgbClr val="E8833A"/>
                </a:solidFill>
              </a:rPr>
              <a:t>Treat promotions as a lever</a:t>
            </a:r>
          </a:p>
        </p:txBody>
      </p:sp>
      <p:sp>
        <p:nvSpPr>
          <p:cNvPr id="416" name="Rec Body 3"/>
          <p:cNvSpPr/>
          <p:nvPr/>
        </p:nvSpPr>
        <p:spPr>
          <a:xfrm>
            <a:off x="1701800" y="3835400"/>
            <a:ext cx="94996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6000"/>
              </a:lnSpc>
              <a:buNone/>
            </a:pPr>
            <a:r>
              <a:rPr lang="en-US" sz="1400" dirty="0">
                <a:solidFill>
                  <a:srgbClr val="2A3C43"/>
                </a:solidFill>
              </a:rPr>
              <a:t>Promos roughly double units, so guarantee stock cover on promo weeks, but validate ROI with margin and cost data before raising the 14.9% frequency.</a:t>
            </a:r>
          </a:p>
        </p:txBody>
      </p:sp>
      <p:sp>
        <p:nvSpPr>
          <p:cNvPr id="417" name="Rec Card 4"/>
          <p:cNvSpPr/>
          <p:nvPr/>
        </p:nvSpPr>
        <p:spPr>
          <a:xfrm>
            <a:off x="838200" y="4368800"/>
            <a:ext cx="10515600" cy="965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5E4"/>
            </a:solidFill>
          </a:ln>
        </p:spPr>
        <p:txBody>
          <a:bodyPr anchor="t"/>
          <a:lstStyle/>
          <a:p>
            <a:endParaRPr lang="en-US"/>
          </a:p>
        </p:txBody>
      </p:sp>
      <p:sp>
        <p:nvSpPr>
          <p:cNvPr id="418" name="Rec Bar 4"/>
          <p:cNvSpPr/>
          <p:nvPr/>
        </p:nvSpPr>
        <p:spPr>
          <a:xfrm>
            <a:off x="838200" y="4368800"/>
            <a:ext cx="50800" cy="965200"/>
          </a:xfrm>
          <a:prstGeom prst="rect">
            <a:avLst/>
          </a:prstGeom>
          <a:solidFill>
            <a:srgbClr val="C0492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19" name="Rec Num 4"/>
          <p:cNvSpPr/>
          <p:nvPr/>
        </p:nvSpPr>
        <p:spPr>
          <a:xfrm>
            <a:off x="1066800" y="4635500"/>
            <a:ext cx="431800" cy="431800"/>
          </a:xfrm>
          <a:prstGeom prst="ellipse">
            <a:avLst/>
          </a:prstGeom>
          <a:solidFill>
            <a:srgbClr val="C0492F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20" name="Rec Head 4"/>
          <p:cNvSpPr/>
          <p:nvPr/>
        </p:nvSpPr>
        <p:spPr>
          <a:xfrm>
            <a:off x="1701800" y="4521200"/>
            <a:ext cx="9499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1800" b="1" dirty="0">
                <a:solidFill>
                  <a:srgbClr val="C0492F"/>
                </a:solidFill>
              </a:rPr>
              <a:t>Hold availability at 2%, targeted not blanket</a:t>
            </a:r>
          </a:p>
        </p:txBody>
      </p:sp>
      <p:sp>
        <p:nvSpPr>
          <p:cNvPr id="421" name="Rec Body 4"/>
          <p:cNvSpPr/>
          <p:nvPr/>
        </p:nvSpPr>
        <p:spPr>
          <a:xfrm>
            <a:off x="1701800" y="4876800"/>
            <a:ext cx="94996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6000"/>
              </a:lnSpc>
              <a:buNone/>
            </a:pPr>
            <a:r>
              <a:rPr lang="en-US" sz="1400" dirty="0">
                <a:solidFill>
                  <a:srgbClr val="2A3C43"/>
                </a:solidFill>
              </a:rPr>
              <a:t>Address the specific channel × region cells with the highest stock-out rate instead of adding blanket safety stock.</a:t>
            </a:r>
          </a:p>
        </p:txBody>
      </p:sp>
      <p:sp>
        <p:nvSpPr>
          <p:cNvPr id="422" name="Rec Card 5"/>
          <p:cNvSpPr/>
          <p:nvPr/>
        </p:nvSpPr>
        <p:spPr>
          <a:xfrm>
            <a:off x="838200" y="5410200"/>
            <a:ext cx="10515600" cy="965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5E4"/>
            </a:solidFill>
          </a:ln>
        </p:spPr>
        <p:txBody>
          <a:bodyPr anchor="t"/>
          <a:lstStyle/>
          <a:p>
            <a:endParaRPr lang="en-US"/>
          </a:p>
        </p:txBody>
      </p:sp>
      <p:sp>
        <p:nvSpPr>
          <p:cNvPr id="423" name="Rec Bar 5"/>
          <p:cNvSpPr/>
          <p:nvPr/>
        </p:nvSpPr>
        <p:spPr>
          <a:xfrm>
            <a:off x="838200" y="5410200"/>
            <a:ext cx="50800" cy="965200"/>
          </a:xfrm>
          <a:prstGeom prst="rect">
            <a:avLst/>
          </a:prstGeom>
          <a:solidFill>
            <a:srgbClr val="4A5C6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24" name="Rec Num 5"/>
          <p:cNvSpPr/>
          <p:nvPr/>
        </p:nvSpPr>
        <p:spPr>
          <a:xfrm>
            <a:off x="1066800" y="5676900"/>
            <a:ext cx="431800" cy="431800"/>
          </a:xfrm>
          <a:prstGeom prst="ellipse">
            <a:avLst/>
          </a:prstGeom>
          <a:solidFill>
            <a:srgbClr val="4A5C63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25" name="Rec Head 5"/>
          <p:cNvSpPr/>
          <p:nvPr/>
        </p:nvSpPr>
        <p:spPr>
          <a:xfrm>
            <a:off x="1701800" y="5562600"/>
            <a:ext cx="9499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1800" b="1" dirty="0">
                <a:solidFill>
                  <a:srgbClr val="4A5C63"/>
                </a:solidFill>
              </a:rPr>
              <a:t>Forecast weekly at SKU</a:t>
            </a:r>
          </a:p>
        </p:txBody>
      </p:sp>
      <p:sp>
        <p:nvSpPr>
          <p:cNvPr id="426" name="Rec Body 5"/>
          <p:cNvSpPr/>
          <p:nvPr/>
        </p:nvSpPr>
        <p:spPr>
          <a:xfrm>
            <a:off x="1701800" y="5918200"/>
            <a:ext cx="94996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6000"/>
              </a:lnSpc>
              <a:buNone/>
            </a:pPr>
            <a:r>
              <a:rPr lang="en-US" sz="1400" dirty="0">
                <a:solidFill>
                  <a:srgbClr val="2A3C43"/>
                </a:solidFill>
              </a:rPr>
              <a:t>Annual seasonality plus a promotion regressor, exclude day-of-week.</a:t>
            </a:r>
          </a:p>
        </p:txBody>
      </p:sp>
    </p:spTree>
    <p:extLst>
      <p:ext uri="{BB962C8B-B14F-4D97-AF65-F5344CB8AC3E}">
        <p14:creationId xmlns:p14="http://schemas.microsoft.com/office/powerpoint/2010/main" val="1201871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85229577433]">
  <a:themeElements>
    <a:clrScheme name="Office">
      <a:dk1>
        <a:srgbClr val="12313A"/>
      </a:dk1>
      <a:lt1>
        <a:srgbClr val="FBFAF7"/>
      </a:lt1>
      <a:dk2>
        <a:srgbClr val="1F5A66"/>
      </a:dk2>
      <a:lt2>
        <a:srgbClr val="E7EDEC"/>
      </a:lt2>
      <a:accent1>
        <a:srgbClr val="0E7C7B"/>
      </a:accent1>
      <a:accent2>
        <a:srgbClr val="E8833A"/>
      </a:accent2>
      <a:accent3>
        <a:srgbClr val="2C6E9B"/>
      </a:accent3>
      <a:accent4>
        <a:srgbClr val="8FBF9F"/>
      </a:accent4>
      <a:accent5>
        <a:srgbClr val="C0492F"/>
      </a:accent5>
      <a:accent6>
        <a:srgbClr val="5B6B73"/>
      </a:accent6>
      <a:hlink>
        <a:srgbClr val="467886"/>
      </a:hlink>
      <a:folHlink>
        <a:srgbClr val="96607D"/>
      </a:folHlink>
    </a:clrScheme>
    <a:fontScheme name="Office">
      <a:majorFont>
        <a:latin typeface="Montserra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Open San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D477CEB-2685-4B1D-A8D9-D37CC03C7BFF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9f901982-c753-47d6-89f7-c0a6a9febb87&quot;"/>
  </we:properties>
  <we:bindings/>
  <we:snapshot xmlns:r="http://schemas.openxmlformats.org/officeDocument/2006/relationships"/>
</we:webextension>
</file>

<file path=docMetadata/LabelInfo.xml><?xml version="1.0" encoding="utf-8"?>
<clbl:labelList xmlns:clbl="http://schemas.microsoft.com/office/2020/mipLabelMetadata">
  <clbl:label id="{910207a7-7e4c-4d3c-8340-9923514c5c77}" enabled="1" method="Standard" siteId="{a2cf6df8-9540-4b4c-84c4-b50dff3d0825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766</Words>
  <Application>Microsoft Office PowerPoint</Application>
  <PresentationFormat>Widescreen</PresentationFormat>
  <Paragraphs>126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Montserrat</vt:lpstr>
      <vt:lpstr>Open Sans</vt:lpstr>
      <vt:lpstr>Office Theme [1785229577433]</vt:lpstr>
      <vt:lpstr>FMCG Sales Performance, Promotion &amp; Demand Forecasting</vt:lpstr>
      <vt:lpstr>Business Problem</vt:lpstr>
      <vt:lpstr>Analysis</vt:lpstr>
      <vt:lpstr>Insight 01 – Trend</vt:lpstr>
      <vt:lpstr>Insight 02 - Seasonality</vt:lpstr>
      <vt:lpstr>Insight 03 - Product Hierarchy</vt:lpstr>
      <vt:lpstr>Insight 04 - Channel &amp; Region</vt:lpstr>
      <vt:lpstr>Insight 05 - Promotion</vt:lpstr>
      <vt:lpstr>Insight 06 - Stock-out</vt:lpstr>
      <vt:lpstr>Recommendations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Hao Nguyen Thien (RSM)</dc:creator>
  <cp:lastModifiedBy>Hao Nguyen Thien (RSM)</cp:lastModifiedBy>
  <cp:revision>2</cp:revision>
  <dcterms:created xsi:type="dcterms:W3CDTF">2026-07-28T09:06:17Z</dcterms:created>
  <dcterms:modified xsi:type="dcterms:W3CDTF">2026-07-28T10:13:15Z</dcterms:modified>
</cp:coreProperties>
</file>